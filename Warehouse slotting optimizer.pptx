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Lst>
  <p:sldSz cx="18288000" cy="10287000"/>
  <p:notesSz cx="6858000" cy="9144000"/>
  <p:embeddedFontLst>
    <p:embeddedFont>
      <p:font typeface="Be Vietnam Ultra-Bold" charset="1" panose="00000900000000000000"/>
      <p:regular r:id="rId13"/>
    </p:embeddedFont>
    <p:embeddedFont>
      <p:font typeface="Be Vietnam" charset="1" panose="00000500000000000000"/>
      <p:regular r:id="rId14"/>
    </p:embeddedFont>
    <p:embeddedFont>
      <p:font typeface="Canva Sans" charset="1" panose="020B0503030501040103"/>
      <p:regular r:id="rId15"/>
    </p:embeddedFont>
    <p:embeddedFont>
      <p:font typeface="Canva Sans Bold" charset="1" panose="020B0803030501040103"/>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fonts/font13.fntdata" Type="http://schemas.openxmlformats.org/officeDocument/2006/relationships/font"/><Relationship Id="rId14" Target="fonts/font14.fntdata" Type="http://schemas.openxmlformats.org/officeDocument/2006/relationships/font"/><Relationship Id="rId15" Target="fonts/font15.fntdata" Type="http://schemas.openxmlformats.org/officeDocument/2006/relationships/font"/><Relationship Id="rId16" Target="fonts/font16.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svg" Type="http://schemas.openxmlformats.org/officeDocument/2006/relationships/image"/><Relationship Id="rId11" Target="../media/image10.png" Type="http://schemas.openxmlformats.org/officeDocument/2006/relationships/image"/><Relationship Id="rId12" Target="../media/image11.svg" Type="http://schemas.openxmlformats.org/officeDocument/2006/relationships/image"/><Relationship Id="rId13" Target="../media/image12.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 Id="rId9" Target="../media/image8.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png" Type="http://schemas.openxmlformats.org/officeDocument/2006/relationships/image"/><Relationship Id="rId3" Target="../media/image14.png" Type="http://schemas.openxmlformats.org/officeDocument/2006/relationships/image"/><Relationship Id="rId4" Target="../media/image15.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5.svg" Type="http://schemas.openxmlformats.org/officeDocument/2006/relationships/image"/><Relationship Id="rId2" Target="../media/image16.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 Id="rId7" Target="../media/image10.png" Type="http://schemas.openxmlformats.org/officeDocument/2006/relationships/image"/><Relationship Id="rId8" Target="../media/image11.svg" Type="http://schemas.openxmlformats.org/officeDocument/2006/relationships/image"/><Relationship Id="rId9" Target="../media/image14.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7.png" Type="http://schemas.openxmlformats.org/officeDocument/2006/relationships/image"/><Relationship Id="rId3" Target="../media/image6.png" Type="http://schemas.openxmlformats.org/officeDocument/2006/relationships/image"/><Relationship Id="rId4" Target="../media/image7.sv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png" Type="http://schemas.openxmlformats.org/officeDocument/2006/relationships/image"/><Relationship Id="rId3" Target="../media/image18.png" Type="http://schemas.openxmlformats.org/officeDocument/2006/relationships/image"/><Relationship Id="rId4" Target="../media/image19.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7.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 Id="rId3" Target="../media/image22.svg" Type="http://schemas.openxmlformats.org/officeDocument/2006/relationships/image"/><Relationship Id="rId4" Target="../media/image23.png" Type="http://schemas.openxmlformats.org/officeDocument/2006/relationships/image"/><Relationship Id="rId5" Target="../media/image24.svg" Type="http://schemas.openxmlformats.org/officeDocument/2006/relationships/image"/><Relationship Id="rId6" Target="../media/image8.png" Type="http://schemas.openxmlformats.org/officeDocument/2006/relationships/image"/><Relationship Id="rId7" Target="../media/image9.svg" Type="http://schemas.openxmlformats.org/officeDocument/2006/relationships/image"/><Relationship Id="rId8" Target="../media/image10.png" Type="http://schemas.openxmlformats.org/officeDocument/2006/relationships/image"/><Relationship Id="rId9" Target="../media/image11.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AF2E8"/>
        </a:solidFill>
      </p:bgPr>
    </p:bg>
    <p:spTree>
      <p:nvGrpSpPr>
        <p:cNvPr id="1" name=""/>
        <p:cNvGrpSpPr/>
        <p:nvPr/>
      </p:nvGrpSpPr>
      <p:grpSpPr>
        <a:xfrm>
          <a:off x="0" y="0"/>
          <a:ext cx="0" cy="0"/>
          <a:chOff x="0" y="0"/>
          <a:chExt cx="0" cy="0"/>
        </a:xfrm>
      </p:grpSpPr>
      <p:sp>
        <p:nvSpPr>
          <p:cNvPr name="Freeform 2" id="2"/>
          <p:cNvSpPr/>
          <p:nvPr/>
        </p:nvSpPr>
        <p:spPr>
          <a:xfrm flipH="false" flipV="false" rot="0">
            <a:off x="-479132" y="6394781"/>
            <a:ext cx="19859326" cy="10976791"/>
          </a:xfrm>
          <a:custGeom>
            <a:avLst/>
            <a:gdLst/>
            <a:ahLst/>
            <a:cxnLst/>
            <a:rect r="r" b="b" t="t" l="l"/>
            <a:pathLst>
              <a:path h="10976791" w="19859326">
                <a:moveTo>
                  <a:pt x="0" y="0"/>
                </a:moveTo>
                <a:lnTo>
                  <a:pt x="19859326" y="0"/>
                </a:lnTo>
                <a:lnTo>
                  <a:pt x="19859326" y="10976791"/>
                </a:lnTo>
                <a:lnTo>
                  <a:pt x="0" y="1097679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810356" y="2764105"/>
            <a:ext cx="7097385" cy="6206986"/>
          </a:xfrm>
          <a:custGeom>
            <a:avLst/>
            <a:gdLst/>
            <a:ahLst/>
            <a:cxnLst/>
            <a:rect r="r" b="b" t="t" l="l"/>
            <a:pathLst>
              <a:path h="6206986" w="7097385">
                <a:moveTo>
                  <a:pt x="0" y="0"/>
                </a:moveTo>
                <a:lnTo>
                  <a:pt x="7097385" y="0"/>
                </a:lnTo>
                <a:lnTo>
                  <a:pt x="7097385" y="6206986"/>
                </a:lnTo>
                <a:lnTo>
                  <a:pt x="0" y="6206986"/>
                </a:lnTo>
                <a:lnTo>
                  <a:pt x="0" y="0"/>
                </a:lnTo>
                <a:close/>
              </a:path>
            </a:pathLst>
          </a:custGeom>
          <a:blipFill>
            <a:blip r:embed="rId4"/>
            <a:stretch>
              <a:fillRect l="0" t="0" r="0" b="0"/>
            </a:stretch>
          </a:blipFill>
        </p:spPr>
      </p:sp>
      <p:sp>
        <p:nvSpPr>
          <p:cNvPr name="Freeform 4" id="4"/>
          <p:cNvSpPr/>
          <p:nvPr/>
        </p:nvSpPr>
        <p:spPr>
          <a:xfrm flipH="false" flipV="false" rot="0">
            <a:off x="3220009" y="5588813"/>
            <a:ext cx="5896656" cy="3216358"/>
          </a:xfrm>
          <a:custGeom>
            <a:avLst/>
            <a:gdLst/>
            <a:ahLst/>
            <a:cxnLst/>
            <a:rect r="r" b="b" t="t" l="l"/>
            <a:pathLst>
              <a:path h="3216358" w="5896656">
                <a:moveTo>
                  <a:pt x="0" y="0"/>
                </a:moveTo>
                <a:lnTo>
                  <a:pt x="5896656" y="0"/>
                </a:lnTo>
                <a:lnTo>
                  <a:pt x="5896656" y="3216358"/>
                </a:lnTo>
                <a:lnTo>
                  <a:pt x="0" y="321635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5" id="5"/>
          <p:cNvSpPr/>
          <p:nvPr/>
        </p:nvSpPr>
        <p:spPr>
          <a:xfrm flipH="false" flipV="false" rot="0">
            <a:off x="-1092194" y="6642833"/>
            <a:ext cx="3312906" cy="1108318"/>
          </a:xfrm>
          <a:custGeom>
            <a:avLst/>
            <a:gdLst/>
            <a:ahLst/>
            <a:cxnLst/>
            <a:rect r="r" b="b" t="t" l="l"/>
            <a:pathLst>
              <a:path h="1108318" w="3312906">
                <a:moveTo>
                  <a:pt x="0" y="0"/>
                </a:moveTo>
                <a:lnTo>
                  <a:pt x="3312906" y="0"/>
                </a:lnTo>
                <a:lnTo>
                  <a:pt x="3312906" y="1108318"/>
                </a:lnTo>
                <a:lnTo>
                  <a:pt x="0" y="110831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a:ln cap="sq">
            <a:noFill/>
            <a:prstDash val="solid"/>
            <a:miter/>
          </a:ln>
        </p:spPr>
      </p:sp>
      <p:sp>
        <p:nvSpPr>
          <p:cNvPr name="TextBox 6" id="6"/>
          <p:cNvSpPr txBox="true"/>
          <p:nvPr/>
        </p:nvSpPr>
        <p:spPr>
          <a:xfrm rot="0">
            <a:off x="1028700" y="2010723"/>
            <a:ext cx="12140780" cy="2577062"/>
          </a:xfrm>
          <a:prstGeom prst="rect">
            <a:avLst/>
          </a:prstGeom>
        </p:spPr>
        <p:txBody>
          <a:bodyPr anchor="t" rtlCol="false" tIns="0" lIns="0" bIns="0" rIns="0">
            <a:spAutoFit/>
          </a:bodyPr>
          <a:lstStyle/>
          <a:p>
            <a:pPr algn="l">
              <a:lnSpc>
                <a:spcPts val="10017"/>
              </a:lnSpc>
            </a:pPr>
            <a:r>
              <a:rPr lang="en-US" sz="9190" b="true">
                <a:solidFill>
                  <a:srgbClr val="C26337"/>
                </a:solidFill>
                <a:latin typeface="Be Vietnam Ultra-Bold"/>
                <a:ea typeface="Be Vietnam Ultra-Bold"/>
                <a:cs typeface="Be Vietnam Ultra-Bold"/>
                <a:sym typeface="Be Vietnam Ultra-Bold"/>
              </a:rPr>
              <a:t>WAREHOUSE SLOTTING OPTIMIZER</a:t>
            </a:r>
          </a:p>
        </p:txBody>
      </p:sp>
      <p:sp>
        <p:nvSpPr>
          <p:cNvPr name="Freeform 7" id="7"/>
          <p:cNvSpPr/>
          <p:nvPr/>
        </p:nvSpPr>
        <p:spPr>
          <a:xfrm flipH="false" flipV="false" rot="0">
            <a:off x="16508645" y="2598185"/>
            <a:ext cx="2798192" cy="1231204"/>
          </a:xfrm>
          <a:custGeom>
            <a:avLst/>
            <a:gdLst/>
            <a:ahLst/>
            <a:cxnLst/>
            <a:rect r="r" b="b" t="t" l="l"/>
            <a:pathLst>
              <a:path h="1231204" w="2798192">
                <a:moveTo>
                  <a:pt x="0" y="0"/>
                </a:moveTo>
                <a:lnTo>
                  <a:pt x="2798192" y="0"/>
                </a:lnTo>
                <a:lnTo>
                  <a:pt x="2798192" y="1231204"/>
                </a:lnTo>
                <a:lnTo>
                  <a:pt x="0" y="123120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8" id="8"/>
          <p:cNvSpPr/>
          <p:nvPr/>
        </p:nvSpPr>
        <p:spPr>
          <a:xfrm flipH="false" flipV="false" rot="0">
            <a:off x="11213745" y="1686894"/>
            <a:ext cx="935996" cy="1564734"/>
          </a:xfrm>
          <a:custGeom>
            <a:avLst/>
            <a:gdLst/>
            <a:ahLst/>
            <a:cxnLst/>
            <a:rect r="r" b="b" t="t" l="l"/>
            <a:pathLst>
              <a:path h="1564734" w="935996">
                <a:moveTo>
                  <a:pt x="0" y="0"/>
                </a:moveTo>
                <a:lnTo>
                  <a:pt x="935996" y="0"/>
                </a:lnTo>
                <a:lnTo>
                  <a:pt x="935996" y="1564735"/>
                </a:lnTo>
                <a:lnTo>
                  <a:pt x="0" y="1564735"/>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a:ln cap="sq">
            <a:noFill/>
            <a:prstDash val="solid"/>
            <a:miter/>
          </a:ln>
        </p:spPr>
      </p:sp>
      <p:grpSp>
        <p:nvGrpSpPr>
          <p:cNvPr name="Group 9" id="9"/>
          <p:cNvGrpSpPr/>
          <p:nvPr/>
        </p:nvGrpSpPr>
        <p:grpSpPr>
          <a:xfrm rot="0">
            <a:off x="0" y="9258300"/>
            <a:ext cx="17907741" cy="770939"/>
            <a:chOff x="0" y="0"/>
            <a:chExt cx="4716442" cy="203046"/>
          </a:xfrm>
        </p:grpSpPr>
        <p:sp>
          <p:nvSpPr>
            <p:cNvPr name="Freeform 10" id="10"/>
            <p:cNvSpPr/>
            <p:nvPr/>
          </p:nvSpPr>
          <p:spPr>
            <a:xfrm flipH="false" flipV="false" rot="0">
              <a:off x="0" y="0"/>
              <a:ext cx="4716442" cy="203046"/>
            </a:xfrm>
            <a:custGeom>
              <a:avLst/>
              <a:gdLst/>
              <a:ahLst/>
              <a:cxnLst/>
              <a:rect r="r" b="b" t="t" l="l"/>
              <a:pathLst>
                <a:path h="203046" w="4716442">
                  <a:moveTo>
                    <a:pt x="22048" y="0"/>
                  </a:moveTo>
                  <a:lnTo>
                    <a:pt x="4694394" y="0"/>
                  </a:lnTo>
                  <a:cubicBezTo>
                    <a:pt x="4700241" y="0"/>
                    <a:pt x="4705850" y="2323"/>
                    <a:pt x="4709985" y="6458"/>
                  </a:cubicBezTo>
                  <a:cubicBezTo>
                    <a:pt x="4714119" y="10593"/>
                    <a:pt x="4716442" y="16201"/>
                    <a:pt x="4716442" y="22048"/>
                  </a:cubicBezTo>
                  <a:lnTo>
                    <a:pt x="4716442" y="180997"/>
                  </a:lnTo>
                  <a:cubicBezTo>
                    <a:pt x="4716442" y="193174"/>
                    <a:pt x="4706571" y="203046"/>
                    <a:pt x="4694394" y="203046"/>
                  </a:cubicBezTo>
                  <a:lnTo>
                    <a:pt x="22048" y="203046"/>
                  </a:lnTo>
                  <a:cubicBezTo>
                    <a:pt x="9871" y="203046"/>
                    <a:pt x="0" y="193174"/>
                    <a:pt x="0" y="180997"/>
                  </a:cubicBezTo>
                  <a:lnTo>
                    <a:pt x="0" y="22048"/>
                  </a:lnTo>
                  <a:cubicBezTo>
                    <a:pt x="0" y="9871"/>
                    <a:pt x="9871" y="0"/>
                    <a:pt x="22048" y="0"/>
                  </a:cubicBezTo>
                  <a:close/>
                </a:path>
              </a:pathLst>
            </a:custGeom>
            <a:solidFill>
              <a:srgbClr val="3F3E3D"/>
            </a:solidFill>
          </p:spPr>
        </p:sp>
        <p:sp>
          <p:nvSpPr>
            <p:cNvPr name="TextBox 11" id="11"/>
            <p:cNvSpPr txBox="true"/>
            <p:nvPr/>
          </p:nvSpPr>
          <p:spPr>
            <a:xfrm>
              <a:off x="0" y="-38100"/>
              <a:ext cx="4716442" cy="241146"/>
            </a:xfrm>
            <a:prstGeom prst="rect">
              <a:avLst/>
            </a:prstGeom>
          </p:spPr>
          <p:txBody>
            <a:bodyPr anchor="ctr" rtlCol="false" tIns="50800" lIns="50800" bIns="50800" rIns="50800"/>
            <a:lstStyle/>
            <a:p>
              <a:pPr algn="ctr">
                <a:lnSpc>
                  <a:spcPts val="2940"/>
                </a:lnSpc>
              </a:pPr>
            </a:p>
          </p:txBody>
        </p:sp>
      </p:grpSp>
      <p:sp>
        <p:nvSpPr>
          <p:cNvPr name="Freeform 12" id="12"/>
          <p:cNvSpPr/>
          <p:nvPr/>
        </p:nvSpPr>
        <p:spPr>
          <a:xfrm flipH="false" flipV="false" rot="0">
            <a:off x="0" y="120982"/>
            <a:ext cx="4841164" cy="1815436"/>
          </a:xfrm>
          <a:custGeom>
            <a:avLst/>
            <a:gdLst/>
            <a:ahLst/>
            <a:cxnLst/>
            <a:rect r="r" b="b" t="t" l="l"/>
            <a:pathLst>
              <a:path h="1815436" w="4841164">
                <a:moveTo>
                  <a:pt x="0" y="0"/>
                </a:moveTo>
                <a:lnTo>
                  <a:pt x="4841164" y="0"/>
                </a:lnTo>
                <a:lnTo>
                  <a:pt x="4841164" y="1815436"/>
                </a:lnTo>
                <a:lnTo>
                  <a:pt x="0" y="1815436"/>
                </a:lnTo>
                <a:lnTo>
                  <a:pt x="0" y="0"/>
                </a:lnTo>
                <a:close/>
              </a:path>
            </a:pathLst>
          </a:custGeom>
          <a:blipFill>
            <a:blip r:embed="rId13"/>
            <a:stretch>
              <a:fillRect l="0" t="0" r="0" b="0"/>
            </a:stretch>
          </a:blipFill>
        </p:spPr>
      </p:sp>
      <p:sp>
        <p:nvSpPr>
          <p:cNvPr name="TextBox 13" id="13"/>
          <p:cNvSpPr txBox="true"/>
          <p:nvPr/>
        </p:nvSpPr>
        <p:spPr>
          <a:xfrm rot="0">
            <a:off x="305681" y="9434854"/>
            <a:ext cx="5079206" cy="379730"/>
          </a:xfrm>
          <a:prstGeom prst="rect">
            <a:avLst/>
          </a:prstGeom>
        </p:spPr>
        <p:txBody>
          <a:bodyPr anchor="t" rtlCol="false" tIns="0" lIns="0" bIns="0" rIns="0">
            <a:spAutoFit/>
          </a:bodyPr>
          <a:lstStyle/>
          <a:p>
            <a:pPr algn="ctr">
              <a:lnSpc>
                <a:spcPts val="3219"/>
              </a:lnSpc>
              <a:spcBef>
                <a:spcPct val="0"/>
              </a:spcBef>
            </a:pPr>
            <a:r>
              <a:rPr lang="en-US" sz="2299">
                <a:solidFill>
                  <a:srgbClr val="FFFFFF"/>
                </a:solidFill>
                <a:latin typeface="Be Vietnam"/>
                <a:ea typeface="Be Vietnam"/>
                <a:cs typeface="Be Vietnam"/>
                <a:sym typeface="Be Vietnam"/>
              </a:rPr>
              <a:t>Battapothula Guru Sai- 2520090075</a:t>
            </a:r>
          </a:p>
        </p:txBody>
      </p:sp>
      <p:sp>
        <p:nvSpPr>
          <p:cNvPr name="TextBox 14" id="14"/>
          <p:cNvSpPr txBox="true"/>
          <p:nvPr/>
        </p:nvSpPr>
        <p:spPr>
          <a:xfrm rot="0">
            <a:off x="11442345" y="9408819"/>
            <a:ext cx="6415681" cy="405765"/>
          </a:xfrm>
          <a:prstGeom prst="rect">
            <a:avLst/>
          </a:prstGeom>
        </p:spPr>
        <p:txBody>
          <a:bodyPr anchor="t" rtlCol="false" tIns="0" lIns="0" bIns="0" rIns="0">
            <a:spAutoFit/>
          </a:bodyPr>
          <a:lstStyle/>
          <a:p>
            <a:pPr algn="ctr">
              <a:lnSpc>
                <a:spcPts val="3359"/>
              </a:lnSpc>
              <a:spcBef>
                <a:spcPct val="0"/>
              </a:spcBef>
            </a:pPr>
            <a:r>
              <a:rPr lang="en-US" sz="2399">
                <a:solidFill>
                  <a:srgbClr val="FFFFFF"/>
                </a:solidFill>
                <a:latin typeface="Be Vietnam"/>
                <a:ea typeface="Be Vietnam"/>
                <a:cs typeface="Be Vietnam"/>
                <a:sym typeface="Be Vietnam"/>
              </a:rPr>
              <a:t>Sampati Varun Sridhar Reddy 2520090083</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AF2E8"/>
        </a:solidFill>
      </p:bgPr>
    </p:bg>
    <p:spTree>
      <p:nvGrpSpPr>
        <p:cNvPr id="1" name=""/>
        <p:cNvGrpSpPr/>
        <p:nvPr/>
      </p:nvGrpSpPr>
      <p:grpSpPr>
        <a:xfrm>
          <a:off x="0" y="0"/>
          <a:ext cx="0" cy="0"/>
          <a:chOff x="0" y="0"/>
          <a:chExt cx="0" cy="0"/>
        </a:xfrm>
      </p:grpSpPr>
      <p:sp>
        <p:nvSpPr>
          <p:cNvPr name="Freeform 2" id="2"/>
          <p:cNvSpPr/>
          <p:nvPr/>
        </p:nvSpPr>
        <p:spPr>
          <a:xfrm flipH="true" flipV="false" rot="0">
            <a:off x="0" y="5029690"/>
            <a:ext cx="6245185" cy="5257310"/>
          </a:xfrm>
          <a:custGeom>
            <a:avLst/>
            <a:gdLst/>
            <a:ahLst/>
            <a:cxnLst/>
            <a:rect r="r" b="b" t="t" l="l"/>
            <a:pathLst>
              <a:path h="5257310" w="6245185">
                <a:moveTo>
                  <a:pt x="6245185" y="0"/>
                </a:moveTo>
                <a:lnTo>
                  <a:pt x="0" y="0"/>
                </a:lnTo>
                <a:lnTo>
                  <a:pt x="0" y="5257310"/>
                </a:lnTo>
                <a:lnTo>
                  <a:pt x="6245185" y="5257310"/>
                </a:lnTo>
                <a:lnTo>
                  <a:pt x="6245185" y="0"/>
                </a:lnTo>
                <a:close/>
              </a:path>
            </a:pathLst>
          </a:custGeom>
          <a:blipFill>
            <a:blip r:embed="rId2"/>
            <a:stretch>
              <a:fillRect l="0" t="0" r="0" b="0"/>
            </a:stretch>
          </a:blipFill>
        </p:spPr>
      </p:sp>
      <p:grpSp>
        <p:nvGrpSpPr>
          <p:cNvPr name="Group 3" id="3"/>
          <p:cNvGrpSpPr/>
          <p:nvPr/>
        </p:nvGrpSpPr>
        <p:grpSpPr>
          <a:xfrm rot="0">
            <a:off x="16349641" y="9258300"/>
            <a:ext cx="909659" cy="1487543"/>
            <a:chOff x="0" y="0"/>
            <a:chExt cx="239581" cy="391781"/>
          </a:xfrm>
        </p:grpSpPr>
        <p:sp>
          <p:nvSpPr>
            <p:cNvPr name="Freeform 4" id="4"/>
            <p:cNvSpPr/>
            <p:nvPr/>
          </p:nvSpPr>
          <p:spPr>
            <a:xfrm flipH="false" flipV="false" rot="0">
              <a:off x="0" y="0"/>
              <a:ext cx="239581" cy="391781"/>
            </a:xfrm>
            <a:custGeom>
              <a:avLst/>
              <a:gdLst/>
              <a:ahLst/>
              <a:cxnLst/>
              <a:rect r="r" b="b" t="t" l="l"/>
              <a:pathLst>
                <a:path h="391781" w="239581">
                  <a:moveTo>
                    <a:pt x="119790" y="0"/>
                  </a:moveTo>
                  <a:lnTo>
                    <a:pt x="119790" y="0"/>
                  </a:lnTo>
                  <a:cubicBezTo>
                    <a:pt x="151561" y="0"/>
                    <a:pt x="182030" y="12621"/>
                    <a:pt x="204495" y="35086"/>
                  </a:cubicBezTo>
                  <a:cubicBezTo>
                    <a:pt x="226960" y="57551"/>
                    <a:pt x="239581" y="88020"/>
                    <a:pt x="239581" y="119790"/>
                  </a:cubicBezTo>
                  <a:lnTo>
                    <a:pt x="239581" y="271990"/>
                  </a:lnTo>
                  <a:cubicBezTo>
                    <a:pt x="239581" y="303761"/>
                    <a:pt x="226960" y="334230"/>
                    <a:pt x="204495" y="356695"/>
                  </a:cubicBezTo>
                  <a:cubicBezTo>
                    <a:pt x="182030" y="379160"/>
                    <a:pt x="151561" y="391781"/>
                    <a:pt x="119790" y="391781"/>
                  </a:cubicBezTo>
                  <a:lnTo>
                    <a:pt x="119790" y="391781"/>
                  </a:lnTo>
                  <a:cubicBezTo>
                    <a:pt x="88020" y="391781"/>
                    <a:pt x="57551" y="379160"/>
                    <a:pt x="35086" y="356695"/>
                  </a:cubicBezTo>
                  <a:cubicBezTo>
                    <a:pt x="12621" y="334230"/>
                    <a:pt x="0" y="303761"/>
                    <a:pt x="0" y="271990"/>
                  </a:cubicBezTo>
                  <a:lnTo>
                    <a:pt x="0" y="119790"/>
                  </a:lnTo>
                  <a:cubicBezTo>
                    <a:pt x="0" y="88020"/>
                    <a:pt x="12621" y="57551"/>
                    <a:pt x="35086" y="35086"/>
                  </a:cubicBezTo>
                  <a:cubicBezTo>
                    <a:pt x="57551" y="12621"/>
                    <a:pt x="88020" y="0"/>
                    <a:pt x="119790" y="0"/>
                  </a:cubicBezTo>
                  <a:close/>
                </a:path>
              </a:pathLst>
            </a:custGeom>
            <a:solidFill>
              <a:srgbClr val="DA7D51"/>
            </a:solidFill>
          </p:spPr>
        </p:sp>
        <p:sp>
          <p:nvSpPr>
            <p:cNvPr name="TextBox 5" id="5"/>
            <p:cNvSpPr txBox="true"/>
            <p:nvPr/>
          </p:nvSpPr>
          <p:spPr>
            <a:xfrm>
              <a:off x="0" y="-38100"/>
              <a:ext cx="239581" cy="429881"/>
            </a:xfrm>
            <a:prstGeom prst="rect">
              <a:avLst/>
            </a:prstGeom>
          </p:spPr>
          <p:txBody>
            <a:bodyPr anchor="ctr" rtlCol="false" tIns="50800" lIns="50800" bIns="50800" rIns="50800"/>
            <a:lstStyle/>
            <a:p>
              <a:pPr algn="ctr">
                <a:lnSpc>
                  <a:spcPts val="2940"/>
                </a:lnSpc>
              </a:pPr>
            </a:p>
          </p:txBody>
        </p:sp>
      </p:grpSp>
      <p:sp>
        <p:nvSpPr>
          <p:cNvPr name="TextBox 6" id="6"/>
          <p:cNvSpPr txBox="true"/>
          <p:nvPr/>
        </p:nvSpPr>
        <p:spPr>
          <a:xfrm rot="0">
            <a:off x="6820798" y="1140954"/>
            <a:ext cx="6815961" cy="862256"/>
          </a:xfrm>
          <a:prstGeom prst="rect">
            <a:avLst/>
          </a:prstGeom>
        </p:spPr>
        <p:txBody>
          <a:bodyPr anchor="t" rtlCol="false" tIns="0" lIns="0" bIns="0" rIns="0">
            <a:spAutoFit/>
          </a:bodyPr>
          <a:lstStyle/>
          <a:p>
            <a:pPr algn="l">
              <a:lnSpc>
                <a:spcPts val="7074"/>
              </a:lnSpc>
            </a:pPr>
            <a:r>
              <a:rPr lang="en-US" sz="5052" b="true">
                <a:solidFill>
                  <a:srgbClr val="C26337"/>
                </a:solidFill>
                <a:latin typeface="Be Vietnam Ultra-Bold"/>
                <a:ea typeface="Be Vietnam Ultra-Bold"/>
                <a:cs typeface="Be Vietnam Ultra-Bold"/>
                <a:sym typeface="Be Vietnam Ultra-Bold"/>
              </a:rPr>
              <a:t>Abstract</a:t>
            </a:r>
          </a:p>
        </p:txBody>
      </p:sp>
      <p:sp>
        <p:nvSpPr>
          <p:cNvPr name="TextBox 7" id="7"/>
          <p:cNvSpPr txBox="true"/>
          <p:nvPr/>
        </p:nvSpPr>
        <p:spPr>
          <a:xfrm rot="0">
            <a:off x="11843210" y="1089836"/>
            <a:ext cx="1015978" cy="264160"/>
          </a:xfrm>
          <a:prstGeom prst="rect">
            <a:avLst/>
          </a:prstGeom>
        </p:spPr>
        <p:txBody>
          <a:bodyPr anchor="t" rtlCol="false" tIns="0" lIns="0" bIns="0" rIns="0">
            <a:spAutoFit/>
          </a:bodyPr>
          <a:lstStyle/>
          <a:p>
            <a:pPr algn="ctr">
              <a:lnSpc>
                <a:spcPts val="2239"/>
              </a:lnSpc>
            </a:pPr>
            <a:r>
              <a:rPr lang="en-US" sz="1599">
                <a:solidFill>
                  <a:srgbClr val="FFFFFF"/>
                </a:solidFill>
                <a:latin typeface="Be Vietnam"/>
                <a:ea typeface="Be Vietnam"/>
                <a:cs typeface="Be Vietnam"/>
                <a:sym typeface="Be Vietnam"/>
              </a:rPr>
              <a:t>Home</a:t>
            </a:r>
          </a:p>
        </p:txBody>
      </p:sp>
      <p:sp>
        <p:nvSpPr>
          <p:cNvPr name="TextBox 8" id="8"/>
          <p:cNvSpPr txBox="true"/>
          <p:nvPr/>
        </p:nvSpPr>
        <p:spPr>
          <a:xfrm rot="0">
            <a:off x="13128769" y="1089836"/>
            <a:ext cx="1015978" cy="264160"/>
          </a:xfrm>
          <a:prstGeom prst="rect">
            <a:avLst/>
          </a:prstGeom>
        </p:spPr>
        <p:txBody>
          <a:bodyPr anchor="t" rtlCol="false" tIns="0" lIns="0" bIns="0" rIns="0">
            <a:spAutoFit/>
          </a:bodyPr>
          <a:lstStyle/>
          <a:p>
            <a:pPr algn="ctr">
              <a:lnSpc>
                <a:spcPts val="2239"/>
              </a:lnSpc>
            </a:pPr>
            <a:r>
              <a:rPr lang="en-US" sz="1599">
                <a:solidFill>
                  <a:srgbClr val="FFFFFF"/>
                </a:solidFill>
                <a:latin typeface="Be Vietnam"/>
                <a:ea typeface="Be Vietnam"/>
                <a:cs typeface="Be Vietnam"/>
                <a:sym typeface="Be Vietnam"/>
              </a:rPr>
              <a:t>Gallery</a:t>
            </a:r>
          </a:p>
        </p:txBody>
      </p:sp>
      <p:sp>
        <p:nvSpPr>
          <p:cNvPr name="TextBox 9" id="9"/>
          <p:cNvSpPr txBox="true"/>
          <p:nvPr/>
        </p:nvSpPr>
        <p:spPr>
          <a:xfrm rot="0">
            <a:off x="14411447" y="1089836"/>
            <a:ext cx="1015978" cy="264160"/>
          </a:xfrm>
          <a:prstGeom prst="rect">
            <a:avLst/>
          </a:prstGeom>
        </p:spPr>
        <p:txBody>
          <a:bodyPr anchor="t" rtlCol="false" tIns="0" lIns="0" bIns="0" rIns="0">
            <a:spAutoFit/>
          </a:bodyPr>
          <a:lstStyle/>
          <a:p>
            <a:pPr algn="ctr">
              <a:lnSpc>
                <a:spcPts val="2239"/>
              </a:lnSpc>
            </a:pPr>
            <a:r>
              <a:rPr lang="en-US" sz="1599">
                <a:solidFill>
                  <a:srgbClr val="FFFFFF"/>
                </a:solidFill>
                <a:latin typeface="Be Vietnam"/>
                <a:ea typeface="Be Vietnam"/>
                <a:cs typeface="Be Vietnam"/>
                <a:sym typeface="Be Vietnam"/>
              </a:rPr>
              <a:t>About Us</a:t>
            </a:r>
          </a:p>
        </p:txBody>
      </p:sp>
      <p:sp>
        <p:nvSpPr>
          <p:cNvPr name="TextBox 10" id="10"/>
          <p:cNvSpPr txBox="true"/>
          <p:nvPr/>
        </p:nvSpPr>
        <p:spPr>
          <a:xfrm rot="0">
            <a:off x="15694125" y="1089836"/>
            <a:ext cx="1015978" cy="264160"/>
          </a:xfrm>
          <a:prstGeom prst="rect">
            <a:avLst/>
          </a:prstGeom>
        </p:spPr>
        <p:txBody>
          <a:bodyPr anchor="t" rtlCol="false" tIns="0" lIns="0" bIns="0" rIns="0">
            <a:spAutoFit/>
          </a:bodyPr>
          <a:lstStyle/>
          <a:p>
            <a:pPr algn="ctr">
              <a:lnSpc>
                <a:spcPts val="2239"/>
              </a:lnSpc>
            </a:pPr>
            <a:r>
              <a:rPr lang="en-US" sz="1599">
                <a:solidFill>
                  <a:srgbClr val="FFFFFF"/>
                </a:solidFill>
                <a:latin typeface="Be Vietnam"/>
                <a:ea typeface="Be Vietnam"/>
                <a:cs typeface="Be Vietnam"/>
                <a:sym typeface="Be Vietnam"/>
              </a:rPr>
              <a:t>Menu</a:t>
            </a:r>
          </a:p>
        </p:txBody>
      </p:sp>
      <p:sp>
        <p:nvSpPr>
          <p:cNvPr name="TextBox 11" id="11"/>
          <p:cNvSpPr txBox="true"/>
          <p:nvPr/>
        </p:nvSpPr>
        <p:spPr>
          <a:xfrm rot="0">
            <a:off x="16287702" y="9393452"/>
            <a:ext cx="1033538" cy="608620"/>
          </a:xfrm>
          <a:prstGeom prst="rect">
            <a:avLst/>
          </a:prstGeom>
        </p:spPr>
        <p:txBody>
          <a:bodyPr anchor="t" rtlCol="false" tIns="0" lIns="0" bIns="0" rIns="0">
            <a:spAutoFit/>
          </a:bodyPr>
          <a:lstStyle/>
          <a:p>
            <a:pPr algn="ctr">
              <a:lnSpc>
                <a:spcPts val="4910"/>
              </a:lnSpc>
            </a:pPr>
            <a:r>
              <a:rPr lang="en-US" sz="3507" b="true">
                <a:solidFill>
                  <a:srgbClr val="FFFFFF"/>
                </a:solidFill>
                <a:latin typeface="Be Vietnam Ultra-Bold"/>
                <a:ea typeface="Be Vietnam Ultra-Bold"/>
                <a:cs typeface="Be Vietnam Ultra-Bold"/>
                <a:sym typeface="Be Vietnam Ultra-Bold"/>
              </a:rPr>
              <a:t>01</a:t>
            </a:r>
          </a:p>
        </p:txBody>
      </p:sp>
      <p:sp>
        <p:nvSpPr>
          <p:cNvPr name="Freeform 12" id="12"/>
          <p:cNvSpPr/>
          <p:nvPr/>
        </p:nvSpPr>
        <p:spPr>
          <a:xfrm flipH="false" flipV="false" rot="0">
            <a:off x="-663826" y="2363149"/>
            <a:ext cx="4043766" cy="1654268"/>
          </a:xfrm>
          <a:custGeom>
            <a:avLst/>
            <a:gdLst/>
            <a:ahLst/>
            <a:cxnLst/>
            <a:rect r="r" b="b" t="t" l="l"/>
            <a:pathLst>
              <a:path h="1654268" w="4043766">
                <a:moveTo>
                  <a:pt x="0" y="0"/>
                </a:moveTo>
                <a:lnTo>
                  <a:pt x="4043766" y="0"/>
                </a:lnTo>
                <a:lnTo>
                  <a:pt x="4043766" y="1654268"/>
                </a:lnTo>
                <a:lnTo>
                  <a:pt x="0" y="165426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TextBox 13" id="13"/>
          <p:cNvSpPr txBox="true"/>
          <p:nvPr/>
        </p:nvSpPr>
        <p:spPr>
          <a:xfrm rot="0">
            <a:off x="6312284" y="2511900"/>
            <a:ext cx="11975716" cy="6656071"/>
          </a:xfrm>
          <a:prstGeom prst="rect">
            <a:avLst/>
          </a:prstGeom>
        </p:spPr>
        <p:txBody>
          <a:bodyPr anchor="t" rtlCol="false" tIns="0" lIns="0" bIns="0" rIns="0">
            <a:spAutoFit/>
          </a:bodyPr>
          <a:lstStyle/>
          <a:p>
            <a:pPr algn="l">
              <a:lnSpc>
                <a:spcPts val="3779"/>
              </a:lnSpc>
              <a:spcBef>
                <a:spcPct val="0"/>
              </a:spcBef>
            </a:pPr>
            <a:r>
              <a:rPr lang="en-US" sz="2699">
                <a:solidFill>
                  <a:srgbClr val="000000"/>
                </a:solidFill>
                <a:latin typeface="Canva Sans"/>
                <a:ea typeface="Canva Sans"/>
                <a:cs typeface="Canva Sans"/>
                <a:sym typeface="Canva Sans"/>
              </a:rPr>
              <a:t>The Wareh</a:t>
            </a:r>
            <a:r>
              <a:rPr lang="en-US" sz="2699">
                <a:solidFill>
                  <a:srgbClr val="000000"/>
                </a:solidFill>
                <a:latin typeface="Canva Sans"/>
                <a:ea typeface="Canva Sans"/>
                <a:cs typeface="Canva Sans"/>
                <a:sym typeface="Canva Sans"/>
              </a:rPr>
              <a:t>ouse Slotting Optimizer is a system that helps organize products in a warehouse to make order picking faster and more efficient. In many warehouses, workers spend a lot of time walking to collect items for customer orders. This project analyses past order history to find products that are often picked together. These related products are then placed in nearby storage locations to reduce travel distance. The system first cleans the product and order data, then identifies common co-pick patterns using data mining techniques. Based on these patterns, it recommends the best storage slots for each product. By placing frequently ordered items closer together, the system improves picking speed, saves time, and reduces worker effort. This project is useful for warehouses, supermarkets, and e-commerce companies that want to improve their storage layout, increase productivity, reduce operational costs, and provide faster order delivery to customers.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DA7D51"/>
        </a:solidFill>
      </p:bgPr>
    </p:bg>
    <p:spTree>
      <p:nvGrpSpPr>
        <p:cNvPr id="1" name=""/>
        <p:cNvGrpSpPr/>
        <p:nvPr/>
      </p:nvGrpSpPr>
      <p:grpSpPr>
        <a:xfrm>
          <a:off x="0" y="0"/>
          <a:ext cx="0" cy="0"/>
          <a:chOff x="0" y="0"/>
          <a:chExt cx="0" cy="0"/>
        </a:xfrm>
      </p:grpSpPr>
      <p:sp>
        <p:nvSpPr>
          <p:cNvPr name="Freeform 2" id="2"/>
          <p:cNvSpPr/>
          <p:nvPr/>
        </p:nvSpPr>
        <p:spPr>
          <a:xfrm flipH="false" flipV="false" rot="0">
            <a:off x="16130475" y="8974448"/>
            <a:ext cx="8883349" cy="7639680"/>
          </a:xfrm>
          <a:custGeom>
            <a:avLst/>
            <a:gdLst/>
            <a:ahLst/>
            <a:cxnLst/>
            <a:rect r="r" b="b" t="t" l="l"/>
            <a:pathLst>
              <a:path h="7639680" w="8883349">
                <a:moveTo>
                  <a:pt x="0" y="0"/>
                </a:moveTo>
                <a:lnTo>
                  <a:pt x="8883349" y="0"/>
                </a:lnTo>
                <a:lnTo>
                  <a:pt x="8883349" y="7639680"/>
                </a:lnTo>
                <a:lnTo>
                  <a:pt x="0" y="7639680"/>
                </a:lnTo>
                <a:lnTo>
                  <a:pt x="0" y="0"/>
                </a:lnTo>
                <a:close/>
              </a:path>
            </a:pathLst>
          </a:custGeom>
          <a:blipFill>
            <a:blip r:embed="rId2"/>
            <a:stretch>
              <a:fillRect l="0" t="0" r="0" b="0"/>
            </a:stretch>
          </a:blipFill>
        </p:spPr>
      </p:sp>
      <p:grpSp>
        <p:nvGrpSpPr>
          <p:cNvPr name="Group 3" id="3"/>
          <p:cNvGrpSpPr/>
          <p:nvPr/>
        </p:nvGrpSpPr>
        <p:grpSpPr>
          <a:xfrm rot="0">
            <a:off x="16349641" y="9258300"/>
            <a:ext cx="909659" cy="1487543"/>
            <a:chOff x="0" y="0"/>
            <a:chExt cx="239581" cy="391781"/>
          </a:xfrm>
        </p:grpSpPr>
        <p:sp>
          <p:nvSpPr>
            <p:cNvPr name="Freeform 4" id="4"/>
            <p:cNvSpPr/>
            <p:nvPr/>
          </p:nvSpPr>
          <p:spPr>
            <a:xfrm flipH="false" flipV="false" rot="0">
              <a:off x="0" y="0"/>
              <a:ext cx="239581" cy="391781"/>
            </a:xfrm>
            <a:custGeom>
              <a:avLst/>
              <a:gdLst/>
              <a:ahLst/>
              <a:cxnLst/>
              <a:rect r="r" b="b" t="t" l="l"/>
              <a:pathLst>
                <a:path h="391781" w="239581">
                  <a:moveTo>
                    <a:pt x="119790" y="0"/>
                  </a:moveTo>
                  <a:lnTo>
                    <a:pt x="119790" y="0"/>
                  </a:lnTo>
                  <a:cubicBezTo>
                    <a:pt x="151561" y="0"/>
                    <a:pt x="182030" y="12621"/>
                    <a:pt x="204495" y="35086"/>
                  </a:cubicBezTo>
                  <a:cubicBezTo>
                    <a:pt x="226960" y="57551"/>
                    <a:pt x="239581" y="88020"/>
                    <a:pt x="239581" y="119790"/>
                  </a:cubicBezTo>
                  <a:lnTo>
                    <a:pt x="239581" y="271990"/>
                  </a:lnTo>
                  <a:cubicBezTo>
                    <a:pt x="239581" y="303761"/>
                    <a:pt x="226960" y="334230"/>
                    <a:pt x="204495" y="356695"/>
                  </a:cubicBezTo>
                  <a:cubicBezTo>
                    <a:pt x="182030" y="379160"/>
                    <a:pt x="151561" y="391781"/>
                    <a:pt x="119790" y="391781"/>
                  </a:cubicBezTo>
                  <a:lnTo>
                    <a:pt x="119790" y="391781"/>
                  </a:lnTo>
                  <a:cubicBezTo>
                    <a:pt x="88020" y="391781"/>
                    <a:pt x="57551" y="379160"/>
                    <a:pt x="35086" y="356695"/>
                  </a:cubicBezTo>
                  <a:cubicBezTo>
                    <a:pt x="12621" y="334230"/>
                    <a:pt x="0" y="303761"/>
                    <a:pt x="0" y="271990"/>
                  </a:cubicBezTo>
                  <a:lnTo>
                    <a:pt x="0" y="119790"/>
                  </a:lnTo>
                  <a:cubicBezTo>
                    <a:pt x="0" y="88020"/>
                    <a:pt x="12621" y="57551"/>
                    <a:pt x="35086" y="35086"/>
                  </a:cubicBezTo>
                  <a:cubicBezTo>
                    <a:pt x="57551" y="12621"/>
                    <a:pt x="88020" y="0"/>
                    <a:pt x="119790" y="0"/>
                  </a:cubicBezTo>
                  <a:close/>
                </a:path>
              </a:pathLst>
            </a:custGeom>
            <a:solidFill>
              <a:srgbClr val="FAF2E8"/>
            </a:solidFill>
          </p:spPr>
        </p:sp>
        <p:sp>
          <p:nvSpPr>
            <p:cNvPr name="TextBox 5" id="5"/>
            <p:cNvSpPr txBox="true"/>
            <p:nvPr/>
          </p:nvSpPr>
          <p:spPr>
            <a:xfrm>
              <a:off x="0" y="-38100"/>
              <a:ext cx="239581" cy="429881"/>
            </a:xfrm>
            <a:prstGeom prst="rect">
              <a:avLst/>
            </a:prstGeom>
          </p:spPr>
          <p:txBody>
            <a:bodyPr anchor="ctr" rtlCol="false" tIns="50800" lIns="50800" bIns="50800" rIns="50800"/>
            <a:lstStyle/>
            <a:p>
              <a:pPr algn="ctr">
                <a:lnSpc>
                  <a:spcPts val="2940"/>
                </a:lnSpc>
              </a:pPr>
            </a:p>
          </p:txBody>
        </p:sp>
      </p:grpSp>
      <p:sp>
        <p:nvSpPr>
          <p:cNvPr name="Freeform 6" id="6"/>
          <p:cNvSpPr/>
          <p:nvPr/>
        </p:nvSpPr>
        <p:spPr>
          <a:xfrm flipH="false" flipV="false" rot="0">
            <a:off x="-2550505" y="7650121"/>
            <a:ext cx="5896656" cy="3216358"/>
          </a:xfrm>
          <a:custGeom>
            <a:avLst/>
            <a:gdLst/>
            <a:ahLst/>
            <a:cxnLst/>
            <a:rect r="r" b="b" t="t" l="l"/>
            <a:pathLst>
              <a:path h="3216358" w="5896656">
                <a:moveTo>
                  <a:pt x="0" y="0"/>
                </a:moveTo>
                <a:lnTo>
                  <a:pt x="5896656" y="0"/>
                </a:lnTo>
                <a:lnTo>
                  <a:pt x="5896656" y="3216358"/>
                </a:lnTo>
                <a:lnTo>
                  <a:pt x="0" y="321635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false" rot="0">
            <a:off x="15591746" y="718144"/>
            <a:ext cx="2449003" cy="1077561"/>
          </a:xfrm>
          <a:custGeom>
            <a:avLst/>
            <a:gdLst/>
            <a:ahLst/>
            <a:cxnLst/>
            <a:rect r="r" b="b" t="t" l="l"/>
            <a:pathLst>
              <a:path h="1077561" w="2449003">
                <a:moveTo>
                  <a:pt x="0" y="0"/>
                </a:moveTo>
                <a:lnTo>
                  <a:pt x="2449003" y="0"/>
                </a:lnTo>
                <a:lnTo>
                  <a:pt x="2449003" y="1077562"/>
                </a:lnTo>
                <a:lnTo>
                  <a:pt x="0" y="107756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8" id="8"/>
          <p:cNvSpPr/>
          <p:nvPr/>
        </p:nvSpPr>
        <p:spPr>
          <a:xfrm flipH="false" flipV="false" rot="0">
            <a:off x="540041" y="-42060"/>
            <a:ext cx="1281018" cy="2141519"/>
          </a:xfrm>
          <a:custGeom>
            <a:avLst/>
            <a:gdLst/>
            <a:ahLst/>
            <a:cxnLst/>
            <a:rect r="r" b="b" t="t" l="l"/>
            <a:pathLst>
              <a:path h="2141519" w="1281018">
                <a:moveTo>
                  <a:pt x="0" y="0"/>
                </a:moveTo>
                <a:lnTo>
                  <a:pt x="1281017" y="0"/>
                </a:lnTo>
                <a:lnTo>
                  <a:pt x="1281017" y="2141520"/>
                </a:lnTo>
                <a:lnTo>
                  <a:pt x="0" y="214152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a:ln cap="sq">
            <a:noFill/>
            <a:prstDash val="solid"/>
            <a:miter/>
          </a:ln>
        </p:spPr>
      </p:sp>
      <p:sp>
        <p:nvSpPr>
          <p:cNvPr name="Freeform 9" id="9"/>
          <p:cNvSpPr/>
          <p:nvPr/>
        </p:nvSpPr>
        <p:spPr>
          <a:xfrm flipH="false" flipV="false" rot="0">
            <a:off x="12243935" y="8431166"/>
            <a:ext cx="4043766" cy="1654268"/>
          </a:xfrm>
          <a:custGeom>
            <a:avLst/>
            <a:gdLst/>
            <a:ahLst/>
            <a:cxnLst/>
            <a:rect r="r" b="b" t="t" l="l"/>
            <a:pathLst>
              <a:path h="1654268" w="4043766">
                <a:moveTo>
                  <a:pt x="0" y="0"/>
                </a:moveTo>
                <a:lnTo>
                  <a:pt x="4043767" y="0"/>
                </a:lnTo>
                <a:lnTo>
                  <a:pt x="4043767" y="1654268"/>
                </a:lnTo>
                <a:lnTo>
                  <a:pt x="0" y="165426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a:ln cap="sq">
            <a:noFill/>
            <a:prstDash val="solid"/>
            <a:miter/>
          </a:ln>
        </p:spPr>
      </p:sp>
      <p:sp>
        <p:nvSpPr>
          <p:cNvPr name="TextBox 10" id="10"/>
          <p:cNvSpPr txBox="true"/>
          <p:nvPr/>
        </p:nvSpPr>
        <p:spPr>
          <a:xfrm rot="0">
            <a:off x="7281156" y="895350"/>
            <a:ext cx="5599611" cy="1161977"/>
          </a:xfrm>
          <a:prstGeom prst="rect">
            <a:avLst/>
          </a:prstGeom>
        </p:spPr>
        <p:txBody>
          <a:bodyPr anchor="t" rtlCol="false" tIns="0" lIns="0" bIns="0" rIns="0">
            <a:spAutoFit/>
          </a:bodyPr>
          <a:lstStyle/>
          <a:p>
            <a:pPr algn="l">
              <a:lnSpc>
                <a:spcPts val="9454"/>
              </a:lnSpc>
            </a:pPr>
            <a:r>
              <a:rPr lang="en-US" sz="6752" b="true">
                <a:solidFill>
                  <a:srgbClr val="FFFFFF"/>
                </a:solidFill>
                <a:latin typeface="Be Vietnam Ultra-Bold"/>
                <a:ea typeface="Be Vietnam Ultra-Bold"/>
                <a:cs typeface="Be Vietnam Ultra-Bold"/>
                <a:sym typeface="Be Vietnam Ultra-Bold"/>
              </a:rPr>
              <a:t>Introduction</a:t>
            </a:r>
          </a:p>
        </p:txBody>
      </p:sp>
      <p:sp>
        <p:nvSpPr>
          <p:cNvPr name="TextBox 11" id="11"/>
          <p:cNvSpPr txBox="true"/>
          <p:nvPr/>
        </p:nvSpPr>
        <p:spPr>
          <a:xfrm rot="0">
            <a:off x="2121175" y="2417894"/>
            <a:ext cx="15919574" cy="6556554"/>
          </a:xfrm>
          <a:prstGeom prst="rect">
            <a:avLst/>
          </a:prstGeom>
        </p:spPr>
        <p:txBody>
          <a:bodyPr anchor="t" rtlCol="false" tIns="0" lIns="0" bIns="0" rIns="0">
            <a:spAutoFit/>
          </a:bodyPr>
          <a:lstStyle/>
          <a:p>
            <a:pPr algn="just">
              <a:lnSpc>
                <a:spcPts val="3490"/>
              </a:lnSpc>
            </a:pPr>
            <a:r>
              <a:rPr lang="en-US" sz="2492">
                <a:solidFill>
                  <a:srgbClr val="000000"/>
                </a:solidFill>
                <a:latin typeface="Be Vietnam"/>
                <a:ea typeface="Be Vietnam"/>
                <a:cs typeface="Be Vietnam"/>
                <a:sym typeface="Be Vietnam"/>
              </a:rPr>
              <a:t>Warehouse slotting is the process of deciding where products should be placed inside a warehouse. Proper product placement helps workers find and collect products faster.</a:t>
            </a:r>
          </a:p>
          <a:p>
            <a:pPr algn="just">
              <a:lnSpc>
                <a:spcPts val="3490"/>
              </a:lnSpc>
            </a:pPr>
            <a:r>
              <a:rPr lang="en-US" sz="2492">
                <a:solidFill>
                  <a:srgbClr val="000000"/>
                </a:solidFill>
                <a:latin typeface="Be Vietnam"/>
                <a:ea typeface="Be Vietnam"/>
                <a:cs typeface="Be Vietnam"/>
                <a:sym typeface="Be Vietnam"/>
              </a:rPr>
              <a:t>In a warehouse, high-demand products are picked more frequently. If these products are stored far from the dispatch area, workers have to travel longer distances, which increases picking time and operational effort.</a:t>
            </a:r>
          </a:p>
          <a:p>
            <a:pPr algn="just">
              <a:lnSpc>
                <a:spcPts val="3490"/>
              </a:lnSpc>
            </a:pPr>
            <a:r>
              <a:rPr lang="en-US" sz="2492">
                <a:solidFill>
                  <a:srgbClr val="000000"/>
                </a:solidFill>
                <a:latin typeface="Be Vietnam"/>
                <a:ea typeface="Be Vietnam"/>
                <a:cs typeface="Be Vietnam"/>
                <a:sym typeface="Be Vietnam"/>
              </a:rPr>
              <a:t>Our project, Warehouse Slotting Optimizer, uses Java and Data Structures &amp; Algorithms (DSA) to improve product placement. The system analyzes product demand and assigns frequently picked products to more accessible slots.</a:t>
            </a:r>
          </a:p>
          <a:p>
            <a:pPr algn="just">
              <a:lnSpc>
                <a:spcPts val="3490"/>
              </a:lnSpc>
              <a:spcBef>
                <a:spcPct val="0"/>
              </a:spcBef>
            </a:pPr>
            <a:r>
              <a:rPr lang="en-US" sz="2492">
                <a:solidFill>
                  <a:srgbClr val="000000"/>
                </a:solidFill>
                <a:latin typeface="Be Vietnam"/>
                <a:ea typeface="Be Vietnam"/>
                <a:cs typeface="Be Vietnam"/>
                <a:sym typeface="Be Vietnam"/>
              </a:rPr>
              <a:t>The project uses concepts such as ArrayList, HashMap, Pri</a:t>
            </a:r>
            <a:r>
              <a:rPr lang="en-US" sz="2492">
                <a:solidFill>
                  <a:srgbClr val="000000"/>
                </a:solidFill>
                <a:latin typeface="Be Vietnam"/>
                <a:ea typeface="Be Vietnam"/>
                <a:cs typeface="Be Vietnam"/>
                <a:sym typeface="Be Vietnam"/>
              </a:rPr>
              <a:t>orityQueue, sorting, searching, and greedy algorithms to organize products and warehouse slots efficiently.</a:t>
            </a:r>
          </a:p>
          <a:p>
            <a:pPr algn="just">
              <a:lnSpc>
                <a:spcPts val="3490"/>
              </a:lnSpc>
              <a:spcBef>
                <a:spcPct val="0"/>
              </a:spcBef>
            </a:pPr>
          </a:p>
          <a:p>
            <a:pPr algn="just">
              <a:lnSpc>
                <a:spcPts val="3490"/>
              </a:lnSpc>
              <a:spcBef>
                <a:spcPct val="0"/>
              </a:spcBef>
            </a:pPr>
            <a:r>
              <a:rPr lang="en-US" b="true" sz="2492">
                <a:solidFill>
                  <a:srgbClr val="000000"/>
                </a:solidFill>
                <a:latin typeface="Be Vietnam Ultra-Bold"/>
                <a:ea typeface="Be Vietnam Ultra-Bold"/>
                <a:cs typeface="Be Vietnam Ultra-Bold"/>
                <a:sym typeface="Be Vietnam Ultra-Bold"/>
              </a:rPr>
              <a:t>Main Goal</a:t>
            </a:r>
          </a:p>
          <a:p>
            <a:pPr algn="just">
              <a:lnSpc>
                <a:spcPts val="3490"/>
              </a:lnSpc>
              <a:spcBef>
                <a:spcPct val="0"/>
              </a:spcBef>
            </a:pPr>
            <a:r>
              <a:rPr lang="en-US" sz="2492">
                <a:solidFill>
                  <a:srgbClr val="000000"/>
                </a:solidFill>
                <a:latin typeface="Be Vietnam"/>
                <a:ea typeface="Be Vietnam"/>
                <a:cs typeface="Be Vietnam"/>
                <a:sym typeface="Be Vietnam"/>
              </a:rPr>
              <a:t>To reduce product picking time and travel distance by placing high-demand products in better warehouse locations.</a:t>
            </a:r>
          </a:p>
          <a:p>
            <a:pPr algn="just">
              <a:lnSpc>
                <a:spcPts val="3490"/>
              </a:lnSpc>
              <a:spcBef>
                <a:spcPct val="0"/>
              </a:spcBef>
            </a:pPr>
          </a:p>
        </p:txBody>
      </p:sp>
      <p:sp>
        <p:nvSpPr>
          <p:cNvPr name="TextBox 12" id="12"/>
          <p:cNvSpPr txBox="true"/>
          <p:nvPr/>
        </p:nvSpPr>
        <p:spPr>
          <a:xfrm rot="0">
            <a:off x="16287702" y="9393452"/>
            <a:ext cx="1033538" cy="606234"/>
          </a:xfrm>
          <a:prstGeom prst="rect">
            <a:avLst/>
          </a:prstGeom>
        </p:spPr>
        <p:txBody>
          <a:bodyPr anchor="t" rtlCol="false" tIns="0" lIns="0" bIns="0" rIns="0">
            <a:spAutoFit/>
          </a:bodyPr>
          <a:lstStyle/>
          <a:p>
            <a:pPr algn="ctr">
              <a:lnSpc>
                <a:spcPts val="4910"/>
              </a:lnSpc>
            </a:pPr>
            <a:r>
              <a:rPr lang="en-US" sz="3507" b="true">
                <a:solidFill>
                  <a:srgbClr val="C26337"/>
                </a:solidFill>
                <a:latin typeface="Be Vietnam Ultra-Bold"/>
                <a:ea typeface="Be Vietnam Ultra-Bold"/>
                <a:cs typeface="Be Vietnam Ultra-Bold"/>
                <a:sym typeface="Be Vietnam Ultra-Bold"/>
              </a:rPr>
              <a:t>02</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AF2E8"/>
        </a:solidFill>
      </p:bgPr>
    </p:bg>
    <p:spTree>
      <p:nvGrpSpPr>
        <p:cNvPr id="1" name=""/>
        <p:cNvGrpSpPr/>
        <p:nvPr/>
      </p:nvGrpSpPr>
      <p:grpSpPr>
        <a:xfrm>
          <a:off x="0" y="0"/>
          <a:ext cx="0" cy="0"/>
          <a:chOff x="0" y="0"/>
          <a:chExt cx="0" cy="0"/>
        </a:xfrm>
      </p:grpSpPr>
      <p:sp>
        <p:nvSpPr>
          <p:cNvPr name="Freeform 2" id="2"/>
          <p:cNvSpPr/>
          <p:nvPr/>
        </p:nvSpPr>
        <p:spPr>
          <a:xfrm flipH="true" flipV="false" rot="0">
            <a:off x="-1187798" y="3280714"/>
            <a:ext cx="7428839" cy="7172206"/>
          </a:xfrm>
          <a:custGeom>
            <a:avLst/>
            <a:gdLst/>
            <a:ahLst/>
            <a:cxnLst/>
            <a:rect r="r" b="b" t="t" l="l"/>
            <a:pathLst>
              <a:path h="7172206" w="7428839">
                <a:moveTo>
                  <a:pt x="7428839" y="0"/>
                </a:moveTo>
                <a:lnTo>
                  <a:pt x="0" y="0"/>
                </a:lnTo>
                <a:lnTo>
                  <a:pt x="0" y="7172207"/>
                </a:lnTo>
                <a:lnTo>
                  <a:pt x="7428839" y="7172207"/>
                </a:lnTo>
                <a:lnTo>
                  <a:pt x="7428839" y="0"/>
                </a:lnTo>
                <a:close/>
              </a:path>
            </a:pathLst>
          </a:custGeom>
          <a:blipFill>
            <a:blip r:embed="rId2"/>
            <a:stretch>
              <a:fillRect l="0" t="0" r="0" b="0"/>
            </a:stretch>
          </a:blipFill>
        </p:spPr>
      </p:sp>
      <p:sp>
        <p:nvSpPr>
          <p:cNvPr name="TextBox 3" id="3"/>
          <p:cNvSpPr txBox="true"/>
          <p:nvPr/>
        </p:nvSpPr>
        <p:spPr>
          <a:xfrm rot="0">
            <a:off x="7981929" y="1003348"/>
            <a:ext cx="9541798" cy="862256"/>
          </a:xfrm>
          <a:prstGeom prst="rect">
            <a:avLst/>
          </a:prstGeom>
        </p:spPr>
        <p:txBody>
          <a:bodyPr anchor="t" rtlCol="false" tIns="0" lIns="0" bIns="0" rIns="0">
            <a:spAutoFit/>
          </a:bodyPr>
          <a:lstStyle/>
          <a:p>
            <a:pPr algn="l">
              <a:lnSpc>
                <a:spcPts val="7074"/>
              </a:lnSpc>
            </a:pPr>
            <a:r>
              <a:rPr lang="en-US" sz="5052" b="true">
                <a:solidFill>
                  <a:srgbClr val="C26337"/>
                </a:solidFill>
                <a:latin typeface="Be Vietnam Ultra-Bold"/>
                <a:ea typeface="Be Vietnam Ultra-Bold"/>
                <a:cs typeface="Be Vietnam Ultra-Bold"/>
                <a:sym typeface="Be Vietnam Ultra-Bold"/>
              </a:rPr>
              <a:t>Literature S</a:t>
            </a:r>
            <a:r>
              <a:rPr lang="en-US" sz="5052" b="true">
                <a:solidFill>
                  <a:srgbClr val="C26337"/>
                </a:solidFill>
                <a:latin typeface="Be Vietnam Ultra-Bold"/>
                <a:ea typeface="Be Vietnam Ultra-Bold"/>
                <a:cs typeface="Be Vietnam Ultra-Bold"/>
                <a:sym typeface="Be Vietnam Ultra-Bold"/>
              </a:rPr>
              <a:t>urvey </a:t>
            </a:r>
          </a:p>
        </p:txBody>
      </p:sp>
      <p:grpSp>
        <p:nvGrpSpPr>
          <p:cNvPr name="Group 4" id="4"/>
          <p:cNvGrpSpPr/>
          <p:nvPr/>
        </p:nvGrpSpPr>
        <p:grpSpPr>
          <a:xfrm rot="0">
            <a:off x="16349641" y="9258300"/>
            <a:ext cx="909659" cy="1487543"/>
            <a:chOff x="0" y="0"/>
            <a:chExt cx="239581" cy="391781"/>
          </a:xfrm>
        </p:grpSpPr>
        <p:sp>
          <p:nvSpPr>
            <p:cNvPr name="Freeform 5" id="5"/>
            <p:cNvSpPr/>
            <p:nvPr/>
          </p:nvSpPr>
          <p:spPr>
            <a:xfrm flipH="false" flipV="false" rot="0">
              <a:off x="0" y="0"/>
              <a:ext cx="239581" cy="391781"/>
            </a:xfrm>
            <a:custGeom>
              <a:avLst/>
              <a:gdLst/>
              <a:ahLst/>
              <a:cxnLst/>
              <a:rect r="r" b="b" t="t" l="l"/>
              <a:pathLst>
                <a:path h="391781" w="239581">
                  <a:moveTo>
                    <a:pt x="119790" y="0"/>
                  </a:moveTo>
                  <a:lnTo>
                    <a:pt x="119790" y="0"/>
                  </a:lnTo>
                  <a:cubicBezTo>
                    <a:pt x="151561" y="0"/>
                    <a:pt x="182030" y="12621"/>
                    <a:pt x="204495" y="35086"/>
                  </a:cubicBezTo>
                  <a:cubicBezTo>
                    <a:pt x="226960" y="57551"/>
                    <a:pt x="239581" y="88020"/>
                    <a:pt x="239581" y="119790"/>
                  </a:cubicBezTo>
                  <a:lnTo>
                    <a:pt x="239581" y="271990"/>
                  </a:lnTo>
                  <a:cubicBezTo>
                    <a:pt x="239581" y="303761"/>
                    <a:pt x="226960" y="334230"/>
                    <a:pt x="204495" y="356695"/>
                  </a:cubicBezTo>
                  <a:cubicBezTo>
                    <a:pt x="182030" y="379160"/>
                    <a:pt x="151561" y="391781"/>
                    <a:pt x="119790" y="391781"/>
                  </a:cubicBezTo>
                  <a:lnTo>
                    <a:pt x="119790" y="391781"/>
                  </a:lnTo>
                  <a:cubicBezTo>
                    <a:pt x="88020" y="391781"/>
                    <a:pt x="57551" y="379160"/>
                    <a:pt x="35086" y="356695"/>
                  </a:cubicBezTo>
                  <a:cubicBezTo>
                    <a:pt x="12621" y="334230"/>
                    <a:pt x="0" y="303761"/>
                    <a:pt x="0" y="271990"/>
                  </a:cubicBezTo>
                  <a:lnTo>
                    <a:pt x="0" y="119790"/>
                  </a:lnTo>
                  <a:cubicBezTo>
                    <a:pt x="0" y="88020"/>
                    <a:pt x="12621" y="57551"/>
                    <a:pt x="35086" y="35086"/>
                  </a:cubicBezTo>
                  <a:cubicBezTo>
                    <a:pt x="57551" y="12621"/>
                    <a:pt x="88020" y="0"/>
                    <a:pt x="119790" y="0"/>
                  </a:cubicBezTo>
                  <a:close/>
                </a:path>
              </a:pathLst>
            </a:custGeom>
            <a:solidFill>
              <a:srgbClr val="DA7D51"/>
            </a:solidFill>
          </p:spPr>
        </p:sp>
        <p:sp>
          <p:nvSpPr>
            <p:cNvPr name="TextBox 6" id="6"/>
            <p:cNvSpPr txBox="true"/>
            <p:nvPr/>
          </p:nvSpPr>
          <p:spPr>
            <a:xfrm>
              <a:off x="0" y="-38100"/>
              <a:ext cx="239581" cy="429881"/>
            </a:xfrm>
            <a:prstGeom prst="rect">
              <a:avLst/>
            </a:prstGeom>
          </p:spPr>
          <p:txBody>
            <a:bodyPr anchor="ctr" rtlCol="false" tIns="50800" lIns="50800" bIns="50800" rIns="50800"/>
            <a:lstStyle/>
            <a:p>
              <a:pPr algn="ctr">
                <a:lnSpc>
                  <a:spcPts val="2940"/>
                </a:lnSpc>
              </a:pPr>
            </a:p>
          </p:txBody>
        </p:sp>
      </p:grpSp>
      <p:sp>
        <p:nvSpPr>
          <p:cNvPr name="Freeform 7" id="7"/>
          <p:cNvSpPr/>
          <p:nvPr/>
        </p:nvSpPr>
        <p:spPr>
          <a:xfrm flipH="false" flipV="false" rot="0">
            <a:off x="1171347" y="645197"/>
            <a:ext cx="2710550" cy="906802"/>
          </a:xfrm>
          <a:custGeom>
            <a:avLst/>
            <a:gdLst/>
            <a:ahLst/>
            <a:cxnLst/>
            <a:rect r="r" b="b" t="t" l="l"/>
            <a:pathLst>
              <a:path h="906802" w="2710550">
                <a:moveTo>
                  <a:pt x="0" y="0"/>
                </a:moveTo>
                <a:lnTo>
                  <a:pt x="2710550" y="0"/>
                </a:lnTo>
                <a:lnTo>
                  <a:pt x="2710550" y="906802"/>
                </a:lnTo>
                <a:lnTo>
                  <a:pt x="0" y="90680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8" id="8"/>
          <p:cNvSpPr/>
          <p:nvPr/>
        </p:nvSpPr>
        <p:spPr>
          <a:xfrm flipH="false" flipV="false" rot="0">
            <a:off x="16349641" y="413893"/>
            <a:ext cx="1438514" cy="1451711"/>
          </a:xfrm>
          <a:custGeom>
            <a:avLst/>
            <a:gdLst/>
            <a:ahLst/>
            <a:cxnLst/>
            <a:rect r="r" b="b" t="t" l="l"/>
            <a:pathLst>
              <a:path h="1451711" w="1438514">
                <a:moveTo>
                  <a:pt x="0" y="0"/>
                </a:moveTo>
                <a:lnTo>
                  <a:pt x="1438514" y="0"/>
                </a:lnTo>
                <a:lnTo>
                  <a:pt x="1438514" y="1451711"/>
                </a:lnTo>
                <a:lnTo>
                  <a:pt x="0" y="14517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a:ln cap="sq">
            <a:noFill/>
            <a:prstDash val="solid"/>
            <a:miter/>
          </a:ln>
        </p:spPr>
      </p:sp>
      <p:sp>
        <p:nvSpPr>
          <p:cNvPr name="TextBox 9" id="9"/>
          <p:cNvSpPr txBox="true"/>
          <p:nvPr/>
        </p:nvSpPr>
        <p:spPr>
          <a:xfrm rot="0">
            <a:off x="16287702" y="9393452"/>
            <a:ext cx="1033538" cy="608620"/>
          </a:xfrm>
          <a:prstGeom prst="rect">
            <a:avLst/>
          </a:prstGeom>
        </p:spPr>
        <p:txBody>
          <a:bodyPr anchor="t" rtlCol="false" tIns="0" lIns="0" bIns="0" rIns="0">
            <a:spAutoFit/>
          </a:bodyPr>
          <a:lstStyle/>
          <a:p>
            <a:pPr algn="ctr">
              <a:lnSpc>
                <a:spcPts val="4910"/>
              </a:lnSpc>
            </a:pPr>
            <a:r>
              <a:rPr lang="en-US" sz="3507" b="true">
                <a:solidFill>
                  <a:srgbClr val="FFFFFF"/>
                </a:solidFill>
                <a:latin typeface="Be Vietnam Ultra-Bold"/>
                <a:ea typeface="Be Vietnam Ultra-Bold"/>
                <a:cs typeface="Be Vietnam Ultra-Bold"/>
                <a:sym typeface="Be Vietnam Ultra-Bold"/>
              </a:rPr>
              <a:t>03</a:t>
            </a:r>
          </a:p>
        </p:txBody>
      </p:sp>
      <p:sp>
        <p:nvSpPr>
          <p:cNvPr name="TextBox 10" id="10"/>
          <p:cNvSpPr txBox="true"/>
          <p:nvPr/>
        </p:nvSpPr>
        <p:spPr>
          <a:xfrm rot="0">
            <a:off x="5662918" y="3055873"/>
            <a:ext cx="12625082" cy="5059045"/>
          </a:xfrm>
          <a:prstGeom prst="rect">
            <a:avLst/>
          </a:prstGeom>
        </p:spPr>
        <p:txBody>
          <a:bodyPr anchor="t" rtlCol="false" tIns="0" lIns="0" bIns="0" rIns="0">
            <a:spAutoFit/>
          </a:bodyPr>
          <a:lstStyle/>
          <a:p>
            <a:pPr algn="l">
              <a:lnSpc>
                <a:spcPts val="3079"/>
              </a:lnSpc>
            </a:pPr>
            <a:r>
              <a:rPr lang="en-US" sz="2199" b="true">
                <a:solidFill>
                  <a:srgbClr val="000000"/>
                </a:solidFill>
                <a:latin typeface="Be Vietnam Ultra-Bold"/>
                <a:ea typeface="Be Vietnam Ultra-Bold"/>
                <a:cs typeface="Be Vietnam Ultra-Bold"/>
                <a:sym typeface="Be Vietnam Ultra-Bold"/>
              </a:rPr>
              <a:t>Study 1 — Order Picking and Storage Assignment</a:t>
            </a:r>
          </a:p>
          <a:p>
            <a:pPr algn="l">
              <a:lnSpc>
                <a:spcPts val="3079"/>
              </a:lnSpc>
            </a:pPr>
            <a:r>
              <a:rPr lang="en-US" sz="2199">
                <a:solidFill>
                  <a:srgbClr val="000000"/>
                </a:solidFill>
                <a:latin typeface="Be Vietnam"/>
                <a:ea typeface="Be Vietnam"/>
                <a:cs typeface="Be Vietnam"/>
                <a:sym typeface="Be Vietnam"/>
              </a:rPr>
              <a:t>Research by de Koster, Le-Duc and Roodbergen reviewed warehouse order-picking systems and identified storage assignment, routing, zoning, batching, and layout as important optimization areas. </a:t>
            </a:r>
          </a:p>
          <a:p>
            <a:pPr algn="l">
              <a:lnSpc>
                <a:spcPts val="3079"/>
              </a:lnSpc>
            </a:pPr>
            <a:r>
              <a:rPr lang="en-US" sz="2199">
                <a:solidFill>
                  <a:srgbClr val="000000"/>
                </a:solidFill>
                <a:latin typeface="Be Vietnam"/>
                <a:ea typeface="Be Vietnam"/>
                <a:cs typeface="Be Vietnam"/>
                <a:sym typeface="Be Vietnam"/>
              </a:rPr>
              <a:t>Relevance to our project:</a:t>
            </a:r>
          </a:p>
          <a:p>
            <a:pPr algn="l">
              <a:lnSpc>
                <a:spcPts val="3079"/>
              </a:lnSpc>
            </a:pPr>
            <a:r>
              <a:rPr lang="en-US" sz="2199">
                <a:solidFill>
                  <a:srgbClr val="000000"/>
                </a:solidFill>
                <a:latin typeface="Be Vietnam"/>
                <a:ea typeface="Be Vietnam"/>
                <a:cs typeface="Be Vietnam"/>
                <a:sym typeface="Be Vietnam"/>
              </a:rPr>
              <a:t> Our system focuses specifically on storage assignment/slotting to reduce picking effort.</a:t>
            </a:r>
          </a:p>
          <a:p>
            <a:pPr algn="l">
              <a:lnSpc>
                <a:spcPts val="3079"/>
              </a:lnSpc>
              <a:spcBef>
                <a:spcPct val="0"/>
              </a:spcBef>
            </a:pPr>
            <a:r>
              <a:rPr lang="en-US" b="true" sz="2199">
                <a:solidFill>
                  <a:srgbClr val="000000"/>
                </a:solidFill>
                <a:latin typeface="Be Vietnam Ultra-Bold"/>
                <a:ea typeface="Be Vietnam Ultra-Bold"/>
                <a:cs typeface="Be Vietnam Ultra-Bold"/>
                <a:sym typeface="Be Vietnam Ultra-Bold"/>
              </a:rPr>
              <a:t>Study 2 — Class-Based St</a:t>
            </a:r>
            <a:r>
              <a:rPr lang="en-US" b="true" sz="2199">
                <a:solidFill>
                  <a:srgbClr val="000000"/>
                </a:solidFill>
                <a:latin typeface="Be Vietnam Ultra-Bold"/>
                <a:ea typeface="Be Vietnam Ultra-Bold"/>
                <a:cs typeface="Be Vietnam Ultra-Bold"/>
                <a:sym typeface="Be Vietnam Ultra-Bold"/>
              </a:rPr>
              <a:t>orage</a:t>
            </a:r>
          </a:p>
          <a:p>
            <a:pPr algn="l">
              <a:lnSpc>
                <a:spcPts val="3079"/>
              </a:lnSpc>
              <a:spcBef>
                <a:spcPct val="0"/>
              </a:spcBef>
            </a:pPr>
            <a:r>
              <a:rPr lang="en-US" sz="2199">
                <a:solidFill>
                  <a:srgbClr val="000000"/>
                </a:solidFill>
                <a:latin typeface="Be Vietnam"/>
                <a:ea typeface="Be Vietnam"/>
                <a:cs typeface="Be Vietnam"/>
                <a:sym typeface="Be Vietnam"/>
              </a:rPr>
              <a:t>Chan and Chan studied class-based storage and found that appropriate storage assignment can improve order retrieval time and travel distance. Their work considered factors such as demand trends, turnover rate, product characteristics and warehouse layout. </a:t>
            </a:r>
          </a:p>
          <a:p>
            <a:pPr algn="l">
              <a:lnSpc>
                <a:spcPts val="3079"/>
              </a:lnSpc>
              <a:spcBef>
                <a:spcPct val="0"/>
              </a:spcBef>
            </a:pPr>
            <a:r>
              <a:rPr lang="en-US" b="true" sz="2199">
                <a:solidFill>
                  <a:srgbClr val="000000"/>
                </a:solidFill>
                <a:latin typeface="Be Vietnam Ultra-Bold"/>
                <a:ea typeface="Be Vietnam Ultra-Bold"/>
                <a:cs typeface="Be Vietnam Ultra-Bold"/>
                <a:sym typeface="Be Vietnam Ultra-Bold"/>
              </a:rPr>
              <a:t>Relevance:</a:t>
            </a:r>
          </a:p>
          <a:p>
            <a:pPr algn="l">
              <a:lnSpc>
                <a:spcPts val="3079"/>
              </a:lnSpc>
              <a:spcBef>
                <a:spcPct val="0"/>
              </a:spcBef>
            </a:pPr>
            <a:r>
              <a:rPr lang="en-US" sz="2199">
                <a:solidFill>
                  <a:srgbClr val="000000"/>
                </a:solidFill>
                <a:latin typeface="Be Vietnam"/>
                <a:ea typeface="Be Vietnam"/>
                <a:cs typeface="Be Vietnam"/>
                <a:sym typeface="Be Vietnam"/>
              </a:rPr>
              <a:t> Our project uses product demand/frequency to prioritize storage locations.</a:t>
            </a:r>
          </a:p>
          <a:p>
            <a:pPr algn="l">
              <a:lnSpc>
                <a:spcPts val="3079"/>
              </a:lnSpc>
              <a:spcBef>
                <a:spcPct val="0"/>
              </a:spcBef>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DA7D51"/>
        </a:solidFill>
      </p:bgPr>
    </p:bg>
    <p:spTree>
      <p:nvGrpSpPr>
        <p:cNvPr id="1" name=""/>
        <p:cNvGrpSpPr/>
        <p:nvPr/>
      </p:nvGrpSpPr>
      <p:grpSpPr>
        <a:xfrm>
          <a:off x="0" y="0"/>
          <a:ext cx="0" cy="0"/>
          <a:chOff x="0" y="0"/>
          <a:chExt cx="0" cy="0"/>
        </a:xfrm>
      </p:grpSpPr>
      <p:sp>
        <p:nvSpPr>
          <p:cNvPr name="Freeform 2" id="2"/>
          <p:cNvSpPr/>
          <p:nvPr/>
        </p:nvSpPr>
        <p:spPr>
          <a:xfrm flipH="false" flipV="false" rot="0">
            <a:off x="11886409" y="1817539"/>
            <a:ext cx="6250239" cy="7440761"/>
          </a:xfrm>
          <a:custGeom>
            <a:avLst/>
            <a:gdLst/>
            <a:ahLst/>
            <a:cxnLst/>
            <a:rect r="r" b="b" t="t" l="l"/>
            <a:pathLst>
              <a:path h="7440761" w="6250239">
                <a:moveTo>
                  <a:pt x="0" y="0"/>
                </a:moveTo>
                <a:lnTo>
                  <a:pt x="6250239" y="0"/>
                </a:lnTo>
                <a:lnTo>
                  <a:pt x="6250239" y="7440761"/>
                </a:lnTo>
                <a:lnTo>
                  <a:pt x="0" y="7440761"/>
                </a:lnTo>
                <a:lnTo>
                  <a:pt x="0" y="0"/>
                </a:lnTo>
                <a:close/>
              </a:path>
            </a:pathLst>
          </a:custGeom>
          <a:blipFill>
            <a:blip r:embed="rId2"/>
            <a:stretch>
              <a:fillRect l="0" t="0" r="0" b="0"/>
            </a:stretch>
          </a:blipFill>
        </p:spPr>
      </p:sp>
      <p:grpSp>
        <p:nvGrpSpPr>
          <p:cNvPr name="Group 3" id="3"/>
          <p:cNvGrpSpPr/>
          <p:nvPr/>
        </p:nvGrpSpPr>
        <p:grpSpPr>
          <a:xfrm rot="0">
            <a:off x="16349641" y="9258300"/>
            <a:ext cx="909659" cy="1487543"/>
            <a:chOff x="0" y="0"/>
            <a:chExt cx="239581" cy="391781"/>
          </a:xfrm>
        </p:grpSpPr>
        <p:sp>
          <p:nvSpPr>
            <p:cNvPr name="Freeform 4" id="4"/>
            <p:cNvSpPr/>
            <p:nvPr/>
          </p:nvSpPr>
          <p:spPr>
            <a:xfrm flipH="false" flipV="false" rot="0">
              <a:off x="0" y="0"/>
              <a:ext cx="239581" cy="391781"/>
            </a:xfrm>
            <a:custGeom>
              <a:avLst/>
              <a:gdLst/>
              <a:ahLst/>
              <a:cxnLst/>
              <a:rect r="r" b="b" t="t" l="l"/>
              <a:pathLst>
                <a:path h="391781" w="239581">
                  <a:moveTo>
                    <a:pt x="119790" y="0"/>
                  </a:moveTo>
                  <a:lnTo>
                    <a:pt x="119790" y="0"/>
                  </a:lnTo>
                  <a:cubicBezTo>
                    <a:pt x="151561" y="0"/>
                    <a:pt x="182030" y="12621"/>
                    <a:pt x="204495" y="35086"/>
                  </a:cubicBezTo>
                  <a:cubicBezTo>
                    <a:pt x="226960" y="57551"/>
                    <a:pt x="239581" y="88020"/>
                    <a:pt x="239581" y="119790"/>
                  </a:cubicBezTo>
                  <a:lnTo>
                    <a:pt x="239581" y="271990"/>
                  </a:lnTo>
                  <a:cubicBezTo>
                    <a:pt x="239581" y="303761"/>
                    <a:pt x="226960" y="334230"/>
                    <a:pt x="204495" y="356695"/>
                  </a:cubicBezTo>
                  <a:cubicBezTo>
                    <a:pt x="182030" y="379160"/>
                    <a:pt x="151561" y="391781"/>
                    <a:pt x="119790" y="391781"/>
                  </a:cubicBezTo>
                  <a:lnTo>
                    <a:pt x="119790" y="391781"/>
                  </a:lnTo>
                  <a:cubicBezTo>
                    <a:pt x="88020" y="391781"/>
                    <a:pt x="57551" y="379160"/>
                    <a:pt x="35086" y="356695"/>
                  </a:cubicBezTo>
                  <a:cubicBezTo>
                    <a:pt x="12621" y="334230"/>
                    <a:pt x="0" y="303761"/>
                    <a:pt x="0" y="271990"/>
                  </a:cubicBezTo>
                  <a:lnTo>
                    <a:pt x="0" y="119790"/>
                  </a:lnTo>
                  <a:cubicBezTo>
                    <a:pt x="0" y="88020"/>
                    <a:pt x="12621" y="57551"/>
                    <a:pt x="35086" y="35086"/>
                  </a:cubicBezTo>
                  <a:cubicBezTo>
                    <a:pt x="57551" y="12621"/>
                    <a:pt x="88020" y="0"/>
                    <a:pt x="119790" y="0"/>
                  </a:cubicBezTo>
                  <a:close/>
                </a:path>
              </a:pathLst>
            </a:custGeom>
            <a:solidFill>
              <a:srgbClr val="FAF2E8"/>
            </a:solidFill>
          </p:spPr>
        </p:sp>
        <p:sp>
          <p:nvSpPr>
            <p:cNvPr name="TextBox 5" id="5"/>
            <p:cNvSpPr txBox="true"/>
            <p:nvPr/>
          </p:nvSpPr>
          <p:spPr>
            <a:xfrm>
              <a:off x="0" y="-38100"/>
              <a:ext cx="239581" cy="429881"/>
            </a:xfrm>
            <a:prstGeom prst="rect">
              <a:avLst/>
            </a:prstGeom>
          </p:spPr>
          <p:txBody>
            <a:bodyPr anchor="ctr" rtlCol="false" tIns="50800" lIns="50800" bIns="50800" rIns="50800"/>
            <a:lstStyle/>
            <a:p>
              <a:pPr algn="ctr">
                <a:lnSpc>
                  <a:spcPts val="2940"/>
                </a:lnSpc>
              </a:pPr>
            </a:p>
          </p:txBody>
        </p:sp>
      </p:grpSp>
      <p:sp>
        <p:nvSpPr>
          <p:cNvPr name="Freeform 6" id="6"/>
          <p:cNvSpPr/>
          <p:nvPr/>
        </p:nvSpPr>
        <p:spPr>
          <a:xfrm flipH="false" flipV="false" rot="0">
            <a:off x="592294" y="8135637"/>
            <a:ext cx="1321887" cy="1334015"/>
          </a:xfrm>
          <a:custGeom>
            <a:avLst/>
            <a:gdLst/>
            <a:ahLst/>
            <a:cxnLst/>
            <a:rect r="r" b="b" t="t" l="l"/>
            <a:pathLst>
              <a:path h="1334015" w="1321887">
                <a:moveTo>
                  <a:pt x="0" y="0"/>
                </a:moveTo>
                <a:lnTo>
                  <a:pt x="1321887" y="0"/>
                </a:lnTo>
                <a:lnTo>
                  <a:pt x="1321887" y="1334015"/>
                </a:lnTo>
                <a:lnTo>
                  <a:pt x="0" y="133401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7" id="7"/>
          <p:cNvSpPr/>
          <p:nvPr/>
        </p:nvSpPr>
        <p:spPr>
          <a:xfrm flipH="false" flipV="false" rot="0">
            <a:off x="16349641" y="1672041"/>
            <a:ext cx="1321887" cy="1334015"/>
          </a:xfrm>
          <a:custGeom>
            <a:avLst/>
            <a:gdLst/>
            <a:ahLst/>
            <a:cxnLst/>
            <a:rect r="r" b="b" t="t" l="l"/>
            <a:pathLst>
              <a:path h="1334015" w="1321887">
                <a:moveTo>
                  <a:pt x="0" y="0"/>
                </a:moveTo>
                <a:lnTo>
                  <a:pt x="1321888" y="0"/>
                </a:lnTo>
                <a:lnTo>
                  <a:pt x="1321888" y="1334015"/>
                </a:lnTo>
                <a:lnTo>
                  <a:pt x="0" y="133401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8" id="8"/>
          <p:cNvSpPr/>
          <p:nvPr/>
        </p:nvSpPr>
        <p:spPr>
          <a:xfrm flipH="false" flipV="false" rot="0">
            <a:off x="11690034" y="5037867"/>
            <a:ext cx="2272964" cy="1000104"/>
          </a:xfrm>
          <a:custGeom>
            <a:avLst/>
            <a:gdLst/>
            <a:ahLst/>
            <a:cxnLst/>
            <a:rect r="r" b="b" t="t" l="l"/>
            <a:pathLst>
              <a:path h="1000104" w="2272964">
                <a:moveTo>
                  <a:pt x="0" y="0"/>
                </a:moveTo>
                <a:lnTo>
                  <a:pt x="2272965" y="0"/>
                </a:lnTo>
                <a:lnTo>
                  <a:pt x="2272965" y="1000105"/>
                </a:lnTo>
                <a:lnTo>
                  <a:pt x="0" y="100010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9" id="9"/>
          <p:cNvSpPr txBox="true"/>
          <p:nvPr/>
        </p:nvSpPr>
        <p:spPr>
          <a:xfrm rot="0">
            <a:off x="16287702" y="9393452"/>
            <a:ext cx="1033538" cy="608620"/>
          </a:xfrm>
          <a:prstGeom prst="rect">
            <a:avLst/>
          </a:prstGeom>
        </p:spPr>
        <p:txBody>
          <a:bodyPr anchor="t" rtlCol="false" tIns="0" lIns="0" bIns="0" rIns="0">
            <a:spAutoFit/>
          </a:bodyPr>
          <a:lstStyle/>
          <a:p>
            <a:pPr algn="ctr">
              <a:lnSpc>
                <a:spcPts val="4910"/>
              </a:lnSpc>
            </a:pPr>
            <a:r>
              <a:rPr lang="en-US" sz="3507" b="true">
                <a:solidFill>
                  <a:srgbClr val="C26337"/>
                </a:solidFill>
                <a:latin typeface="Be Vietnam Ultra-Bold"/>
                <a:ea typeface="Be Vietnam Ultra-Bold"/>
                <a:cs typeface="Be Vietnam Ultra-Bold"/>
                <a:sym typeface="Be Vietnam Ultra-Bold"/>
              </a:rPr>
              <a:t>04</a:t>
            </a:r>
          </a:p>
        </p:txBody>
      </p:sp>
      <p:sp>
        <p:nvSpPr>
          <p:cNvPr name="TextBox 10" id="10"/>
          <p:cNvSpPr txBox="true"/>
          <p:nvPr/>
        </p:nvSpPr>
        <p:spPr>
          <a:xfrm rot="0">
            <a:off x="401604" y="614225"/>
            <a:ext cx="16608980" cy="1203313"/>
          </a:xfrm>
          <a:prstGeom prst="rect">
            <a:avLst/>
          </a:prstGeom>
        </p:spPr>
        <p:txBody>
          <a:bodyPr anchor="t" rtlCol="false" tIns="0" lIns="0" bIns="0" rIns="0">
            <a:spAutoFit/>
          </a:bodyPr>
          <a:lstStyle/>
          <a:p>
            <a:pPr algn="ctr">
              <a:lnSpc>
                <a:spcPts val="9800"/>
              </a:lnSpc>
            </a:pPr>
            <a:r>
              <a:rPr lang="en-US" sz="7000" b="true">
                <a:solidFill>
                  <a:srgbClr val="FFFFFF"/>
                </a:solidFill>
                <a:latin typeface="Canva Sans Bold"/>
                <a:ea typeface="Canva Sans Bold"/>
                <a:cs typeface="Canva Sans Bold"/>
                <a:sym typeface="Canva Sans Bold"/>
              </a:rPr>
              <a:t>Software and HardWare Requirements</a:t>
            </a:r>
          </a:p>
        </p:txBody>
      </p:sp>
      <p:sp>
        <p:nvSpPr>
          <p:cNvPr name="TextBox 11" id="11"/>
          <p:cNvSpPr txBox="true"/>
          <p:nvPr/>
        </p:nvSpPr>
        <p:spPr>
          <a:xfrm rot="0">
            <a:off x="1954359" y="1976511"/>
            <a:ext cx="9695498" cy="8075295"/>
          </a:xfrm>
          <a:prstGeom prst="rect">
            <a:avLst/>
          </a:prstGeom>
        </p:spPr>
        <p:txBody>
          <a:bodyPr anchor="t" rtlCol="false" tIns="0" lIns="0" bIns="0" rIns="0">
            <a:spAutoFit/>
          </a:bodyPr>
          <a:lstStyle/>
          <a:p>
            <a:pPr algn="l">
              <a:lnSpc>
                <a:spcPts val="3779"/>
              </a:lnSpc>
            </a:pPr>
            <a:r>
              <a:rPr lang="en-US" b="true" sz="2699">
                <a:solidFill>
                  <a:srgbClr val="000000"/>
                </a:solidFill>
                <a:latin typeface="Be Vietnam Ultra-Bold"/>
                <a:ea typeface="Be Vietnam Ultra-Bold"/>
                <a:cs typeface="Be Vietnam Ultra-Bold"/>
                <a:sym typeface="Be Vietnam Ultra-Bold"/>
              </a:rPr>
              <a:t>S</a:t>
            </a:r>
            <a:r>
              <a:rPr lang="en-US" b="true" sz="2699">
                <a:solidFill>
                  <a:srgbClr val="000000"/>
                </a:solidFill>
                <a:latin typeface="Be Vietnam Ultra-Bold"/>
                <a:ea typeface="Be Vietnam Ultra-Bold"/>
                <a:cs typeface="Be Vietnam Ultra-Bold"/>
                <a:sym typeface="Be Vietnam Ultra-Bold"/>
              </a:rPr>
              <a:t>oftware Requirements</a:t>
            </a:r>
          </a:p>
          <a:p>
            <a:pPr algn="l">
              <a:lnSpc>
                <a:spcPts val="3779"/>
              </a:lnSpc>
            </a:pPr>
            <a:r>
              <a:rPr lang="en-US" sz="2699">
                <a:solidFill>
                  <a:srgbClr val="000000"/>
                </a:solidFill>
                <a:latin typeface="Be Vietnam"/>
                <a:ea typeface="Be Vietnam"/>
                <a:cs typeface="Be Vietnam"/>
                <a:sym typeface="Be Vietnam"/>
              </a:rPr>
              <a:t>Programming Language: Java</a:t>
            </a:r>
          </a:p>
          <a:p>
            <a:pPr algn="l">
              <a:lnSpc>
                <a:spcPts val="3779"/>
              </a:lnSpc>
            </a:pPr>
            <a:r>
              <a:rPr lang="en-US" sz="2699">
                <a:solidFill>
                  <a:srgbClr val="000000"/>
                </a:solidFill>
                <a:latin typeface="Be Vietnam"/>
                <a:ea typeface="Be Vietnam"/>
                <a:cs typeface="Be Vietnam"/>
                <a:sym typeface="Be Vietnam"/>
              </a:rPr>
              <a:t>JDK: JDK 17 or above</a:t>
            </a:r>
          </a:p>
          <a:p>
            <a:pPr algn="l">
              <a:lnSpc>
                <a:spcPts val="3779"/>
              </a:lnSpc>
            </a:pPr>
            <a:r>
              <a:rPr lang="en-US" sz="2699">
                <a:solidFill>
                  <a:srgbClr val="000000"/>
                </a:solidFill>
                <a:latin typeface="Be Vietnam"/>
                <a:ea typeface="Be Vietnam"/>
                <a:cs typeface="Be Vietnam"/>
                <a:sym typeface="Be Vietnam"/>
              </a:rPr>
              <a:t>IDE: VS Code / IntelliJ IDEA / Eclipse</a:t>
            </a:r>
          </a:p>
          <a:p>
            <a:pPr algn="l">
              <a:lnSpc>
                <a:spcPts val="3779"/>
              </a:lnSpc>
            </a:pPr>
            <a:r>
              <a:rPr lang="en-US" sz="2699">
                <a:solidFill>
                  <a:srgbClr val="000000"/>
                </a:solidFill>
                <a:latin typeface="Be Vietnam"/>
                <a:ea typeface="Be Vietnam"/>
                <a:cs typeface="Be Vietnam"/>
                <a:sym typeface="Be Vietnam"/>
              </a:rPr>
              <a:t>Operating System: Windows 10/11 or Linux</a:t>
            </a:r>
          </a:p>
          <a:p>
            <a:pPr algn="l">
              <a:lnSpc>
                <a:spcPts val="3779"/>
              </a:lnSpc>
            </a:pPr>
            <a:r>
              <a:rPr lang="en-US" sz="2699">
                <a:solidFill>
                  <a:srgbClr val="000000"/>
                </a:solidFill>
                <a:latin typeface="Be Vietnam"/>
                <a:ea typeface="Be Vietnam"/>
                <a:cs typeface="Be Vietnam"/>
                <a:sym typeface="Be Vietnam"/>
              </a:rPr>
              <a:t>Data Structures: ArrayList, HashMap, PriorityQueue</a:t>
            </a:r>
          </a:p>
          <a:p>
            <a:pPr algn="l">
              <a:lnSpc>
                <a:spcPts val="3779"/>
              </a:lnSpc>
            </a:pPr>
            <a:r>
              <a:rPr lang="en-US" sz="2699">
                <a:solidFill>
                  <a:srgbClr val="000000"/>
                </a:solidFill>
                <a:latin typeface="Be Vietnam"/>
                <a:ea typeface="Be Vietnam"/>
                <a:cs typeface="Be Vietnam"/>
                <a:sym typeface="Be Vietnam"/>
              </a:rPr>
              <a:t>Algorithms: Sorting, Searching, Greedy Algorithm</a:t>
            </a:r>
          </a:p>
          <a:p>
            <a:pPr algn="l">
              <a:lnSpc>
                <a:spcPts val="3779"/>
              </a:lnSpc>
            </a:pPr>
            <a:r>
              <a:rPr lang="en-US" sz="2699">
                <a:solidFill>
                  <a:srgbClr val="000000"/>
                </a:solidFill>
                <a:latin typeface="Be Vietnam"/>
                <a:ea typeface="Be Vietnam"/>
                <a:cs typeface="Be Vietnam"/>
                <a:sym typeface="Be Vietnam"/>
              </a:rPr>
              <a:t>Database: Not required for the basic version</a:t>
            </a:r>
          </a:p>
          <a:p>
            <a:pPr algn="l">
              <a:lnSpc>
                <a:spcPts val="3779"/>
              </a:lnSpc>
            </a:pPr>
          </a:p>
          <a:p>
            <a:pPr algn="l">
              <a:lnSpc>
                <a:spcPts val="3779"/>
              </a:lnSpc>
            </a:pPr>
            <a:r>
              <a:rPr lang="en-US" b="true" sz="2699">
                <a:solidFill>
                  <a:srgbClr val="000000"/>
                </a:solidFill>
                <a:latin typeface="Be Vietnam Ultra-Bold"/>
                <a:ea typeface="Be Vietnam Ultra-Bold"/>
                <a:cs typeface="Be Vietnam Ultra-Bold"/>
                <a:sym typeface="Be Vietnam Ultra-Bold"/>
              </a:rPr>
              <a:t>Hardware Requirements</a:t>
            </a:r>
          </a:p>
          <a:p>
            <a:pPr algn="l">
              <a:lnSpc>
                <a:spcPts val="3779"/>
              </a:lnSpc>
            </a:pPr>
            <a:r>
              <a:rPr lang="en-US" sz="2699">
                <a:solidFill>
                  <a:srgbClr val="000000"/>
                </a:solidFill>
                <a:latin typeface="Be Vietnam"/>
                <a:ea typeface="Be Vietnam"/>
                <a:cs typeface="Be Vietnam"/>
                <a:sym typeface="Be Vietnam"/>
              </a:rPr>
              <a:t>Processor: Intel Core i3 or equivalent</a:t>
            </a:r>
          </a:p>
          <a:p>
            <a:pPr algn="l">
              <a:lnSpc>
                <a:spcPts val="3779"/>
              </a:lnSpc>
            </a:pPr>
            <a:r>
              <a:rPr lang="en-US" sz="2699">
                <a:solidFill>
                  <a:srgbClr val="000000"/>
                </a:solidFill>
                <a:latin typeface="Be Vietnam"/>
                <a:ea typeface="Be Vietnam"/>
                <a:cs typeface="Be Vietnam"/>
                <a:sym typeface="Be Vietnam"/>
              </a:rPr>
              <a:t>RAM: Minimum 4 GB</a:t>
            </a:r>
          </a:p>
          <a:p>
            <a:pPr algn="l">
              <a:lnSpc>
                <a:spcPts val="3779"/>
              </a:lnSpc>
            </a:pPr>
            <a:r>
              <a:rPr lang="en-US" sz="2699">
                <a:solidFill>
                  <a:srgbClr val="000000"/>
                </a:solidFill>
                <a:latin typeface="Be Vietnam"/>
                <a:ea typeface="Be Vietnam"/>
                <a:cs typeface="Be Vietnam"/>
                <a:sym typeface="Be Vietnam"/>
              </a:rPr>
              <a:t>Storage: Minimum 500 MB free space</a:t>
            </a:r>
          </a:p>
          <a:p>
            <a:pPr algn="l">
              <a:lnSpc>
                <a:spcPts val="3779"/>
              </a:lnSpc>
            </a:pPr>
            <a:r>
              <a:rPr lang="en-US" sz="2699">
                <a:solidFill>
                  <a:srgbClr val="000000"/>
                </a:solidFill>
                <a:latin typeface="Be Vietnam"/>
                <a:ea typeface="Be Vietnam"/>
                <a:cs typeface="Be Vietnam"/>
                <a:sym typeface="Be Vietnam"/>
              </a:rPr>
              <a:t>Display: 1366 × 768 resolution or higher</a:t>
            </a:r>
          </a:p>
          <a:p>
            <a:pPr algn="l">
              <a:lnSpc>
                <a:spcPts val="3779"/>
              </a:lnSpc>
            </a:pPr>
            <a:r>
              <a:rPr lang="en-US" sz="2699">
                <a:solidFill>
                  <a:srgbClr val="000000"/>
                </a:solidFill>
                <a:latin typeface="Be Vietnam"/>
                <a:ea typeface="Be Vietnam"/>
                <a:cs typeface="Be Vietnam"/>
                <a:sym typeface="Be Vietnam"/>
              </a:rPr>
              <a:t>Input: Keyboard and Mouse</a:t>
            </a:r>
          </a:p>
          <a:p>
            <a:pPr algn="l">
              <a:lnSpc>
                <a:spcPts val="3779"/>
              </a:lnSpc>
            </a:pPr>
            <a:r>
              <a:rPr lang="en-US" sz="2699">
                <a:solidFill>
                  <a:srgbClr val="000000"/>
                </a:solidFill>
                <a:latin typeface="Be Vietnam"/>
                <a:ea typeface="Be Vietnam"/>
                <a:cs typeface="Be Vietnam"/>
                <a:sym typeface="Be Vietnam"/>
              </a:rPr>
              <a:t>Internet: Not required for running the basic Java application</a:t>
            </a:r>
          </a:p>
          <a:p>
            <a:pPr algn="l">
              <a:lnSpc>
                <a:spcPts val="3779"/>
              </a:lnSpc>
            </a:pP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AF2E8"/>
        </a:solidFill>
      </p:bgPr>
    </p:bg>
    <p:spTree>
      <p:nvGrpSpPr>
        <p:cNvPr id="1" name=""/>
        <p:cNvGrpSpPr/>
        <p:nvPr/>
      </p:nvGrpSpPr>
      <p:grpSpPr>
        <a:xfrm>
          <a:off x="0" y="0"/>
          <a:ext cx="0" cy="0"/>
          <a:chOff x="0" y="0"/>
          <a:chExt cx="0" cy="0"/>
        </a:xfrm>
      </p:grpSpPr>
      <p:grpSp>
        <p:nvGrpSpPr>
          <p:cNvPr name="Group 2" id="2"/>
          <p:cNvGrpSpPr/>
          <p:nvPr/>
        </p:nvGrpSpPr>
        <p:grpSpPr>
          <a:xfrm rot="0">
            <a:off x="16349641" y="9258300"/>
            <a:ext cx="909659" cy="1487543"/>
            <a:chOff x="0" y="0"/>
            <a:chExt cx="239581" cy="391781"/>
          </a:xfrm>
        </p:grpSpPr>
        <p:sp>
          <p:nvSpPr>
            <p:cNvPr name="Freeform 3" id="3"/>
            <p:cNvSpPr/>
            <p:nvPr/>
          </p:nvSpPr>
          <p:spPr>
            <a:xfrm flipH="false" flipV="false" rot="0">
              <a:off x="0" y="0"/>
              <a:ext cx="239581" cy="391781"/>
            </a:xfrm>
            <a:custGeom>
              <a:avLst/>
              <a:gdLst/>
              <a:ahLst/>
              <a:cxnLst/>
              <a:rect r="r" b="b" t="t" l="l"/>
              <a:pathLst>
                <a:path h="391781" w="239581">
                  <a:moveTo>
                    <a:pt x="119790" y="0"/>
                  </a:moveTo>
                  <a:lnTo>
                    <a:pt x="119790" y="0"/>
                  </a:lnTo>
                  <a:cubicBezTo>
                    <a:pt x="151561" y="0"/>
                    <a:pt x="182030" y="12621"/>
                    <a:pt x="204495" y="35086"/>
                  </a:cubicBezTo>
                  <a:cubicBezTo>
                    <a:pt x="226960" y="57551"/>
                    <a:pt x="239581" y="88020"/>
                    <a:pt x="239581" y="119790"/>
                  </a:cubicBezTo>
                  <a:lnTo>
                    <a:pt x="239581" y="271990"/>
                  </a:lnTo>
                  <a:cubicBezTo>
                    <a:pt x="239581" y="303761"/>
                    <a:pt x="226960" y="334230"/>
                    <a:pt x="204495" y="356695"/>
                  </a:cubicBezTo>
                  <a:cubicBezTo>
                    <a:pt x="182030" y="379160"/>
                    <a:pt x="151561" y="391781"/>
                    <a:pt x="119790" y="391781"/>
                  </a:cubicBezTo>
                  <a:lnTo>
                    <a:pt x="119790" y="391781"/>
                  </a:lnTo>
                  <a:cubicBezTo>
                    <a:pt x="88020" y="391781"/>
                    <a:pt x="57551" y="379160"/>
                    <a:pt x="35086" y="356695"/>
                  </a:cubicBezTo>
                  <a:cubicBezTo>
                    <a:pt x="12621" y="334230"/>
                    <a:pt x="0" y="303761"/>
                    <a:pt x="0" y="271990"/>
                  </a:cubicBezTo>
                  <a:lnTo>
                    <a:pt x="0" y="119790"/>
                  </a:lnTo>
                  <a:cubicBezTo>
                    <a:pt x="0" y="88020"/>
                    <a:pt x="12621" y="57551"/>
                    <a:pt x="35086" y="35086"/>
                  </a:cubicBezTo>
                  <a:cubicBezTo>
                    <a:pt x="57551" y="12621"/>
                    <a:pt x="88020" y="0"/>
                    <a:pt x="119790" y="0"/>
                  </a:cubicBezTo>
                  <a:close/>
                </a:path>
              </a:pathLst>
            </a:custGeom>
            <a:solidFill>
              <a:srgbClr val="DA7D51"/>
            </a:solidFill>
          </p:spPr>
        </p:sp>
        <p:sp>
          <p:nvSpPr>
            <p:cNvPr name="TextBox 4" id="4"/>
            <p:cNvSpPr txBox="true"/>
            <p:nvPr/>
          </p:nvSpPr>
          <p:spPr>
            <a:xfrm>
              <a:off x="0" y="-38100"/>
              <a:ext cx="239581" cy="429881"/>
            </a:xfrm>
            <a:prstGeom prst="rect">
              <a:avLst/>
            </a:prstGeom>
          </p:spPr>
          <p:txBody>
            <a:bodyPr anchor="ctr" rtlCol="false" tIns="50800" lIns="50800" bIns="50800" rIns="50800"/>
            <a:lstStyle/>
            <a:p>
              <a:pPr algn="ctr">
                <a:lnSpc>
                  <a:spcPts val="2940"/>
                </a:lnSpc>
              </a:pPr>
            </a:p>
          </p:txBody>
        </p:sp>
      </p:grpSp>
      <p:sp>
        <p:nvSpPr>
          <p:cNvPr name="TextBox 5" id="5"/>
          <p:cNvSpPr txBox="true"/>
          <p:nvPr/>
        </p:nvSpPr>
        <p:spPr>
          <a:xfrm rot="0">
            <a:off x="179415" y="2023192"/>
            <a:ext cx="14998234" cy="8548145"/>
          </a:xfrm>
          <a:prstGeom prst="rect">
            <a:avLst/>
          </a:prstGeom>
        </p:spPr>
        <p:txBody>
          <a:bodyPr anchor="t" rtlCol="false" tIns="0" lIns="0" bIns="0" rIns="0">
            <a:spAutoFit/>
          </a:bodyPr>
          <a:lstStyle/>
          <a:p>
            <a:pPr algn="l">
              <a:lnSpc>
                <a:spcPts val="3442"/>
              </a:lnSpc>
            </a:pPr>
            <a:r>
              <a:rPr lang="en-US" sz="2458">
                <a:solidFill>
                  <a:srgbClr val="000000"/>
                </a:solidFill>
                <a:latin typeface="Canva Sans"/>
                <a:ea typeface="Canva Sans"/>
                <a:cs typeface="Canva Sans"/>
                <a:sym typeface="Canva Sans"/>
              </a:rPr>
              <a:t>The Warehouse Slotting Optimizer uses a simple process to assign products</a:t>
            </a:r>
          </a:p>
          <a:p>
            <a:pPr algn="l">
              <a:lnSpc>
                <a:spcPts val="3442"/>
              </a:lnSpc>
            </a:pPr>
            <a:r>
              <a:rPr lang="en-US" sz="2458">
                <a:solidFill>
                  <a:srgbClr val="000000"/>
                </a:solidFill>
                <a:latin typeface="Canva Sans"/>
                <a:ea typeface="Canva Sans"/>
                <a:cs typeface="Canva Sans"/>
                <a:sym typeface="Canva Sans"/>
              </a:rPr>
              <a:t> to the most suitable warehouse slots.</a:t>
            </a:r>
          </a:p>
          <a:p>
            <a:pPr algn="l">
              <a:lnSpc>
                <a:spcPts val="3442"/>
              </a:lnSpc>
            </a:pPr>
            <a:r>
              <a:rPr lang="en-US" sz="2458" b="true">
                <a:solidFill>
                  <a:srgbClr val="000000"/>
                </a:solidFill>
                <a:latin typeface="Canva Sans Bold"/>
                <a:ea typeface="Canva Sans Bold"/>
                <a:cs typeface="Canva Sans Bold"/>
                <a:sym typeface="Canva Sans Bold"/>
              </a:rPr>
              <a:t>1. Collect Data</a:t>
            </a:r>
          </a:p>
          <a:p>
            <a:pPr algn="l" marL="530868" indent="-265434" lvl="1">
              <a:lnSpc>
                <a:spcPts val="3442"/>
              </a:lnSpc>
              <a:buFont typeface="Arial"/>
              <a:buChar char="•"/>
            </a:pPr>
            <a:r>
              <a:rPr lang="en-US" sz="2458">
                <a:solidFill>
                  <a:srgbClr val="000000"/>
                </a:solidFill>
                <a:latin typeface="Canva Sans"/>
                <a:ea typeface="Canva Sans"/>
                <a:cs typeface="Canva Sans"/>
                <a:sym typeface="Canva Sans"/>
              </a:rPr>
              <a:t>Product ID</a:t>
            </a:r>
          </a:p>
          <a:p>
            <a:pPr algn="l" marL="530868" indent="-265434" lvl="1">
              <a:lnSpc>
                <a:spcPts val="3442"/>
              </a:lnSpc>
              <a:buFont typeface="Arial"/>
              <a:buChar char="•"/>
            </a:pPr>
            <a:r>
              <a:rPr lang="en-US" sz="2458">
                <a:solidFill>
                  <a:srgbClr val="000000"/>
                </a:solidFill>
                <a:latin typeface="Canva Sans"/>
                <a:ea typeface="Canva Sans"/>
                <a:cs typeface="Canva Sans"/>
                <a:sym typeface="Canva Sans"/>
              </a:rPr>
              <a:t>Demand/Frequency</a:t>
            </a:r>
          </a:p>
          <a:p>
            <a:pPr algn="l">
              <a:lnSpc>
                <a:spcPts val="3442"/>
              </a:lnSpc>
            </a:pPr>
            <a:r>
              <a:rPr lang="en-US" sz="2458" b="true">
                <a:solidFill>
                  <a:srgbClr val="000000"/>
                </a:solidFill>
                <a:latin typeface="Canva Sans Bold"/>
                <a:ea typeface="Canva Sans Bold"/>
                <a:cs typeface="Canva Sans Bold"/>
                <a:sym typeface="Canva Sans Bold"/>
              </a:rPr>
              <a:t>2. Store Data</a:t>
            </a:r>
          </a:p>
          <a:p>
            <a:pPr algn="l" marL="530868" indent="-265434" lvl="1">
              <a:lnSpc>
                <a:spcPts val="3442"/>
              </a:lnSpc>
              <a:buFont typeface="Arial"/>
              <a:buChar char="•"/>
            </a:pPr>
            <a:r>
              <a:rPr lang="en-US" sz="2458">
                <a:solidFill>
                  <a:srgbClr val="000000"/>
                </a:solidFill>
                <a:latin typeface="Canva Sans"/>
                <a:ea typeface="Canva Sans"/>
                <a:cs typeface="Canva Sans"/>
                <a:sym typeface="Canva Sans"/>
              </a:rPr>
              <a:t>ArrayList → Product &amp; slot details</a:t>
            </a:r>
          </a:p>
          <a:p>
            <a:pPr algn="l" marL="530868" indent="-265434" lvl="1">
              <a:lnSpc>
                <a:spcPts val="3442"/>
              </a:lnSpc>
              <a:buFont typeface="Arial"/>
              <a:buChar char="•"/>
            </a:pPr>
            <a:r>
              <a:rPr lang="en-US" sz="2458">
                <a:solidFill>
                  <a:srgbClr val="000000"/>
                </a:solidFill>
                <a:latin typeface="Canva Sans"/>
                <a:ea typeface="Canva Sans"/>
                <a:cs typeface="Canva Sans"/>
                <a:sym typeface="Canva Sans"/>
              </a:rPr>
              <a:t>HashMap → Fast product lookup</a:t>
            </a:r>
          </a:p>
          <a:p>
            <a:pPr algn="l" marL="530868" indent="-265434" lvl="1">
              <a:lnSpc>
                <a:spcPts val="3442"/>
              </a:lnSpc>
              <a:buFont typeface="Arial"/>
              <a:buChar char="•"/>
            </a:pPr>
            <a:r>
              <a:rPr lang="en-US" sz="2458">
                <a:solidFill>
                  <a:srgbClr val="000000"/>
                </a:solidFill>
                <a:latin typeface="Canva Sans"/>
                <a:ea typeface="Canva Sans"/>
                <a:cs typeface="Canva Sans"/>
                <a:sym typeface="Canva Sans"/>
              </a:rPr>
              <a:t>PriorityQueue → Product priority</a:t>
            </a:r>
          </a:p>
          <a:p>
            <a:pPr algn="l">
              <a:lnSpc>
                <a:spcPts val="3442"/>
              </a:lnSpc>
            </a:pPr>
            <a:r>
              <a:rPr lang="en-US" sz="2458" b="true">
                <a:solidFill>
                  <a:srgbClr val="000000"/>
                </a:solidFill>
                <a:latin typeface="Canva Sans Bold"/>
                <a:ea typeface="Canva Sans Bold"/>
                <a:cs typeface="Canva Sans Bold"/>
                <a:sym typeface="Canva Sans Bold"/>
              </a:rPr>
              <a:t>3. Calculate Priority</a:t>
            </a:r>
          </a:p>
          <a:p>
            <a:pPr algn="l">
              <a:lnSpc>
                <a:spcPts val="3442"/>
              </a:lnSpc>
            </a:pPr>
            <a:r>
              <a:rPr lang="en-US" sz="2458">
                <a:solidFill>
                  <a:srgbClr val="000000"/>
                </a:solidFill>
                <a:latin typeface="Canva Sans"/>
                <a:ea typeface="Canva Sans"/>
                <a:cs typeface="Canva Sans"/>
                <a:sym typeface="Canva Sans"/>
              </a:rPr>
              <a:t>Products are ranked based on demand and picking frequency.</a:t>
            </a:r>
          </a:p>
          <a:p>
            <a:pPr algn="l">
              <a:lnSpc>
                <a:spcPts val="3442"/>
              </a:lnSpc>
            </a:pPr>
            <a:r>
              <a:rPr lang="en-US" sz="2458" b="true">
                <a:solidFill>
                  <a:srgbClr val="000000"/>
                </a:solidFill>
                <a:latin typeface="Canva Sans Bold"/>
                <a:ea typeface="Canva Sans Bold"/>
                <a:cs typeface="Canva Sans Bold"/>
                <a:sym typeface="Canva Sans Bold"/>
              </a:rPr>
              <a:t>4. Sort Products</a:t>
            </a:r>
          </a:p>
          <a:p>
            <a:pPr algn="l">
              <a:lnSpc>
                <a:spcPts val="3442"/>
              </a:lnSpc>
            </a:pPr>
            <a:r>
              <a:rPr lang="en-US" sz="2458">
                <a:solidFill>
                  <a:srgbClr val="000000"/>
                </a:solidFill>
                <a:latin typeface="Canva Sans"/>
                <a:ea typeface="Canva Sans"/>
                <a:cs typeface="Canva Sans"/>
                <a:sym typeface="Canva Sans"/>
              </a:rPr>
              <a:t>Products are arranged from highest to lowest demand.</a:t>
            </a:r>
          </a:p>
          <a:p>
            <a:pPr algn="l">
              <a:lnSpc>
                <a:spcPts val="3442"/>
              </a:lnSpc>
            </a:pPr>
            <a:r>
              <a:rPr lang="en-US" sz="2458">
                <a:solidFill>
                  <a:srgbClr val="000000"/>
                </a:solidFill>
                <a:latin typeface="Canva Sans"/>
                <a:ea typeface="Canva Sans"/>
                <a:cs typeface="Canva Sans"/>
                <a:sym typeface="Canva Sans"/>
              </a:rPr>
              <a:t>5. </a:t>
            </a:r>
            <a:r>
              <a:rPr lang="en-US" sz="2458" b="true">
                <a:solidFill>
                  <a:srgbClr val="000000"/>
                </a:solidFill>
                <a:latin typeface="Canva Sans Bold"/>
                <a:ea typeface="Canva Sans Bold"/>
                <a:cs typeface="Canva Sans Bold"/>
                <a:sym typeface="Canva Sans Bold"/>
              </a:rPr>
              <a:t>Assign Slots</a:t>
            </a:r>
          </a:p>
          <a:p>
            <a:pPr algn="l">
              <a:lnSpc>
                <a:spcPts val="3442"/>
              </a:lnSpc>
            </a:pPr>
            <a:r>
              <a:rPr lang="en-US" sz="2458">
                <a:solidFill>
                  <a:srgbClr val="000000"/>
                </a:solidFill>
                <a:latin typeface="Canva Sans"/>
                <a:ea typeface="Canva Sans"/>
                <a:cs typeface="Canva Sans"/>
                <a:sym typeface="Canva Sans"/>
              </a:rPr>
              <a:t>High-priority products are assigned to easily accessible</a:t>
            </a:r>
          </a:p>
          <a:p>
            <a:pPr algn="l">
              <a:lnSpc>
                <a:spcPts val="3442"/>
              </a:lnSpc>
            </a:pPr>
            <a:r>
              <a:rPr lang="en-US" sz="2458" b="true">
                <a:solidFill>
                  <a:srgbClr val="000000"/>
                </a:solidFill>
                <a:latin typeface="Canva Sans Bold"/>
                <a:ea typeface="Canva Sans Bold"/>
                <a:cs typeface="Canva Sans Bold"/>
                <a:sym typeface="Canva Sans Bold"/>
              </a:rPr>
              <a:t>6. Calculate Distance</a:t>
            </a:r>
          </a:p>
          <a:p>
            <a:pPr algn="l">
              <a:lnSpc>
                <a:spcPts val="3442"/>
              </a:lnSpc>
            </a:pPr>
            <a:r>
              <a:rPr lang="en-US" sz="2458">
                <a:solidFill>
                  <a:srgbClr val="000000"/>
                </a:solidFill>
                <a:latin typeface="Canva Sans"/>
                <a:ea typeface="Canva Sans"/>
                <a:cs typeface="Canva Sans"/>
                <a:sym typeface="Canva Sans"/>
              </a:rPr>
              <a:t>Estimate picker travel distance and retrieval time.</a:t>
            </a:r>
          </a:p>
          <a:p>
            <a:pPr algn="l">
              <a:lnSpc>
                <a:spcPts val="3442"/>
              </a:lnSpc>
            </a:pPr>
            <a:r>
              <a:rPr lang="en-US" sz="2458" b="true">
                <a:solidFill>
                  <a:srgbClr val="000000"/>
                </a:solidFill>
                <a:latin typeface="Canva Sans Bold"/>
                <a:ea typeface="Canva Sans Bold"/>
                <a:cs typeface="Canva Sans Bold"/>
                <a:sym typeface="Canva Sans Bold"/>
              </a:rPr>
              <a:t>7. Optimize Layout</a:t>
            </a:r>
          </a:p>
          <a:p>
            <a:pPr algn="l">
              <a:lnSpc>
                <a:spcPts val="3442"/>
              </a:lnSpc>
            </a:pPr>
            <a:r>
              <a:rPr lang="en-US" sz="2458">
                <a:solidFill>
                  <a:srgbClr val="000000"/>
                </a:solidFill>
                <a:latin typeface="Canva Sans"/>
                <a:ea typeface="Canva Sans"/>
                <a:cs typeface="Canva Sans"/>
                <a:sym typeface="Canva Sans"/>
              </a:rPr>
              <a:t>Generate the final optimized warehouse slot arrangement.</a:t>
            </a:r>
          </a:p>
          <a:p>
            <a:pPr algn="l">
              <a:lnSpc>
                <a:spcPts val="3442"/>
              </a:lnSpc>
              <a:spcBef>
                <a:spcPct val="0"/>
              </a:spcBef>
            </a:pPr>
          </a:p>
        </p:txBody>
      </p:sp>
      <p:sp>
        <p:nvSpPr>
          <p:cNvPr name="TextBox 6" id="6"/>
          <p:cNvSpPr txBox="true"/>
          <p:nvPr/>
        </p:nvSpPr>
        <p:spPr>
          <a:xfrm rot="0">
            <a:off x="14017606" y="2004142"/>
            <a:ext cx="3515797" cy="7003911"/>
          </a:xfrm>
          <a:prstGeom prst="rect">
            <a:avLst/>
          </a:prstGeom>
        </p:spPr>
        <p:txBody>
          <a:bodyPr anchor="t" rtlCol="false" tIns="0" lIns="0" bIns="0" rIns="0">
            <a:spAutoFit/>
          </a:bodyPr>
          <a:lstStyle/>
          <a:p>
            <a:pPr algn="ctr">
              <a:lnSpc>
                <a:spcPts val="3507"/>
              </a:lnSpc>
            </a:pPr>
            <a:r>
              <a:rPr lang="en-US" sz="2505" b="true">
                <a:solidFill>
                  <a:srgbClr val="000000"/>
                </a:solidFill>
                <a:latin typeface="Be Vietnam Ultra-Bold"/>
                <a:ea typeface="Be Vietnam Ultra-Bold"/>
                <a:cs typeface="Be Vietnam Ultra-Bold"/>
                <a:sym typeface="Be Vietnam Ultra-Bold"/>
              </a:rPr>
              <a:t>Collect Data</a:t>
            </a:r>
          </a:p>
          <a:p>
            <a:pPr algn="ctr">
              <a:lnSpc>
                <a:spcPts val="3507"/>
              </a:lnSpc>
            </a:pPr>
            <a:r>
              <a:rPr lang="en-US" sz="2505" b="true">
                <a:solidFill>
                  <a:srgbClr val="000000"/>
                </a:solidFill>
                <a:latin typeface="Be Vietnam Ultra-Bold"/>
                <a:ea typeface="Be Vietnam Ultra-Bold"/>
                <a:cs typeface="Be Vietnam Ultra-Bold"/>
                <a:sym typeface="Be Vietnam Ultra-Bold"/>
              </a:rPr>
              <a:t> ↓</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St</a:t>
            </a:r>
            <a:r>
              <a:rPr lang="en-US" b="true" sz="2505">
                <a:solidFill>
                  <a:srgbClr val="000000"/>
                </a:solidFill>
                <a:latin typeface="Be Vietnam Ultra-Bold"/>
                <a:ea typeface="Be Vietnam Ultra-Bold"/>
                <a:cs typeface="Be Vietnam Ultra-Bold"/>
                <a:sym typeface="Be Vietnam Ultra-Bold"/>
              </a:rPr>
              <a:t>ore Data</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ArrayList + HashMap</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 ↓</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Calculate Priority</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 ↓</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Sort Products</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Sorting Algorithm</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 ↓</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Assign Slots</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PriorityQueue + Greedy</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 ↓</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Calculate Distance</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 ↓</a:t>
            </a:r>
          </a:p>
          <a:p>
            <a:pPr algn="ctr">
              <a:lnSpc>
                <a:spcPts val="3507"/>
              </a:lnSpc>
              <a:spcBef>
                <a:spcPct val="0"/>
              </a:spcBef>
            </a:pPr>
            <a:r>
              <a:rPr lang="en-US" b="true" sz="2505">
                <a:solidFill>
                  <a:srgbClr val="000000"/>
                </a:solidFill>
                <a:latin typeface="Be Vietnam Ultra-Bold"/>
                <a:ea typeface="Be Vietnam Ultra-Bold"/>
                <a:cs typeface="Be Vietnam Ultra-Bold"/>
                <a:sym typeface="Be Vietnam Ultra-Bold"/>
              </a:rPr>
              <a:t>Optimized Layout</a:t>
            </a:r>
          </a:p>
        </p:txBody>
      </p:sp>
      <p:sp>
        <p:nvSpPr>
          <p:cNvPr name="TextBox 7" id="7"/>
          <p:cNvSpPr txBox="true"/>
          <p:nvPr/>
        </p:nvSpPr>
        <p:spPr>
          <a:xfrm rot="0">
            <a:off x="4639648" y="318489"/>
            <a:ext cx="6815961" cy="1277547"/>
          </a:xfrm>
          <a:prstGeom prst="rect">
            <a:avLst/>
          </a:prstGeom>
        </p:spPr>
        <p:txBody>
          <a:bodyPr anchor="t" rtlCol="false" tIns="0" lIns="0" bIns="0" rIns="0">
            <a:spAutoFit/>
          </a:bodyPr>
          <a:lstStyle/>
          <a:p>
            <a:pPr algn="l">
              <a:lnSpc>
                <a:spcPts val="10434"/>
              </a:lnSpc>
            </a:pPr>
            <a:r>
              <a:rPr lang="en-US" sz="7452" b="true">
                <a:solidFill>
                  <a:srgbClr val="000000"/>
                </a:solidFill>
                <a:latin typeface="Be Vietnam Ultra-Bold"/>
                <a:ea typeface="Be Vietnam Ultra-Bold"/>
                <a:cs typeface="Be Vietnam Ultra-Bold"/>
                <a:sym typeface="Be Vietnam Ultra-Bold"/>
              </a:rPr>
              <a:t>Methodology</a:t>
            </a:r>
          </a:p>
        </p:txBody>
      </p:sp>
      <p:sp>
        <p:nvSpPr>
          <p:cNvPr name="Freeform 8" id="8"/>
          <p:cNvSpPr/>
          <p:nvPr/>
        </p:nvSpPr>
        <p:spPr>
          <a:xfrm flipH="false" flipV="false" rot="0">
            <a:off x="16349641" y="575299"/>
            <a:ext cx="2710550" cy="906802"/>
          </a:xfrm>
          <a:custGeom>
            <a:avLst/>
            <a:gdLst/>
            <a:ahLst/>
            <a:cxnLst/>
            <a:rect r="r" b="b" t="t" l="l"/>
            <a:pathLst>
              <a:path h="906802" w="2710550">
                <a:moveTo>
                  <a:pt x="0" y="0"/>
                </a:moveTo>
                <a:lnTo>
                  <a:pt x="2710550" y="0"/>
                </a:lnTo>
                <a:lnTo>
                  <a:pt x="2710550" y="906802"/>
                </a:lnTo>
                <a:lnTo>
                  <a:pt x="0" y="9068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TextBox 9" id="9"/>
          <p:cNvSpPr txBox="true"/>
          <p:nvPr/>
        </p:nvSpPr>
        <p:spPr>
          <a:xfrm rot="0">
            <a:off x="16287702" y="9393452"/>
            <a:ext cx="1033538" cy="608620"/>
          </a:xfrm>
          <a:prstGeom prst="rect">
            <a:avLst/>
          </a:prstGeom>
        </p:spPr>
        <p:txBody>
          <a:bodyPr anchor="t" rtlCol="false" tIns="0" lIns="0" bIns="0" rIns="0">
            <a:spAutoFit/>
          </a:bodyPr>
          <a:lstStyle/>
          <a:p>
            <a:pPr algn="ctr">
              <a:lnSpc>
                <a:spcPts val="4910"/>
              </a:lnSpc>
            </a:pPr>
            <a:r>
              <a:rPr lang="en-US" sz="3507" b="true">
                <a:solidFill>
                  <a:srgbClr val="FFFFFF"/>
                </a:solidFill>
                <a:latin typeface="Be Vietnam Ultra-Bold"/>
                <a:ea typeface="Be Vietnam Ultra-Bold"/>
                <a:cs typeface="Be Vietnam Ultra-Bold"/>
                <a:sym typeface="Be Vietnam Ultra-Bold"/>
              </a:rPr>
              <a:t>05</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DA7D51"/>
        </a:solidFill>
      </p:bgPr>
    </p:bg>
    <p:spTree>
      <p:nvGrpSpPr>
        <p:cNvPr id="1" name=""/>
        <p:cNvGrpSpPr/>
        <p:nvPr/>
      </p:nvGrpSpPr>
      <p:grpSpPr>
        <a:xfrm>
          <a:off x="0" y="0"/>
          <a:ext cx="0" cy="0"/>
          <a:chOff x="0" y="0"/>
          <a:chExt cx="0" cy="0"/>
        </a:xfrm>
      </p:grpSpPr>
      <p:sp>
        <p:nvSpPr>
          <p:cNvPr name="Freeform 2" id="2"/>
          <p:cNvSpPr/>
          <p:nvPr/>
        </p:nvSpPr>
        <p:spPr>
          <a:xfrm flipH="false" flipV="false" rot="0">
            <a:off x="3572525" y="3582329"/>
            <a:ext cx="11142950" cy="6564210"/>
          </a:xfrm>
          <a:custGeom>
            <a:avLst/>
            <a:gdLst/>
            <a:ahLst/>
            <a:cxnLst/>
            <a:rect r="r" b="b" t="t" l="l"/>
            <a:pathLst>
              <a:path h="6564210" w="11142950">
                <a:moveTo>
                  <a:pt x="0" y="0"/>
                </a:moveTo>
                <a:lnTo>
                  <a:pt x="11142950" y="0"/>
                </a:lnTo>
                <a:lnTo>
                  <a:pt x="11142950" y="6564211"/>
                </a:lnTo>
                <a:lnTo>
                  <a:pt x="0" y="656421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4047486" y="1311574"/>
            <a:ext cx="10193028" cy="1930830"/>
          </a:xfrm>
          <a:prstGeom prst="rect">
            <a:avLst/>
          </a:prstGeom>
        </p:spPr>
        <p:txBody>
          <a:bodyPr anchor="t" rtlCol="false" tIns="0" lIns="0" bIns="0" rIns="0">
            <a:spAutoFit/>
          </a:bodyPr>
          <a:lstStyle/>
          <a:p>
            <a:pPr algn="ctr">
              <a:lnSpc>
                <a:spcPts val="15404"/>
              </a:lnSpc>
            </a:pPr>
            <a:r>
              <a:rPr lang="en-US" b="true" sz="11941">
                <a:solidFill>
                  <a:srgbClr val="FFFFFF"/>
                </a:solidFill>
                <a:latin typeface="Be Vietnam Ultra-Bold"/>
                <a:ea typeface="Be Vietnam Ultra-Bold"/>
                <a:cs typeface="Be Vietnam Ultra-Bold"/>
                <a:sym typeface="Be Vietnam Ultra-Bold"/>
              </a:rPr>
              <a:t>Thank You</a:t>
            </a:r>
          </a:p>
        </p:txBody>
      </p:sp>
      <p:grpSp>
        <p:nvGrpSpPr>
          <p:cNvPr name="Group 4" id="4"/>
          <p:cNvGrpSpPr/>
          <p:nvPr/>
        </p:nvGrpSpPr>
        <p:grpSpPr>
          <a:xfrm rot="0">
            <a:off x="1385120" y="1028700"/>
            <a:ext cx="15517760" cy="410448"/>
            <a:chOff x="0" y="0"/>
            <a:chExt cx="4086982" cy="108101"/>
          </a:xfrm>
        </p:grpSpPr>
        <p:sp>
          <p:nvSpPr>
            <p:cNvPr name="Freeform 5" id="5"/>
            <p:cNvSpPr/>
            <p:nvPr/>
          </p:nvSpPr>
          <p:spPr>
            <a:xfrm flipH="false" flipV="false" rot="0">
              <a:off x="0" y="0"/>
              <a:ext cx="4086982" cy="108101"/>
            </a:xfrm>
            <a:custGeom>
              <a:avLst/>
              <a:gdLst/>
              <a:ahLst/>
              <a:cxnLst/>
              <a:rect r="r" b="b" t="t" l="l"/>
              <a:pathLst>
                <a:path h="108101" w="4086982">
                  <a:moveTo>
                    <a:pt x="25444" y="0"/>
                  </a:moveTo>
                  <a:lnTo>
                    <a:pt x="4061538" y="0"/>
                  </a:lnTo>
                  <a:cubicBezTo>
                    <a:pt x="4075590" y="0"/>
                    <a:pt x="4086982" y="11392"/>
                    <a:pt x="4086982" y="25444"/>
                  </a:cubicBezTo>
                  <a:lnTo>
                    <a:pt x="4086982" y="82657"/>
                  </a:lnTo>
                  <a:cubicBezTo>
                    <a:pt x="4086982" y="96710"/>
                    <a:pt x="4075590" y="108101"/>
                    <a:pt x="4061538" y="108101"/>
                  </a:cubicBezTo>
                  <a:lnTo>
                    <a:pt x="25444" y="108101"/>
                  </a:lnTo>
                  <a:cubicBezTo>
                    <a:pt x="11392" y="108101"/>
                    <a:pt x="0" y="96710"/>
                    <a:pt x="0" y="82657"/>
                  </a:cubicBezTo>
                  <a:lnTo>
                    <a:pt x="0" y="25444"/>
                  </a:lnTo>
                  <a:cubicBezTo>
                    <a:pt x="0" y="11392"/>
                    <a:pt x="11392" y="0"/>
                    <a:pt x="25444" y="0"/>
                  </a:cubicBezTo>
                  <a:close/>
                </a:path>
              </a:pathLst>
            </a:custGeom>
            <a:solidFill>
              <a:srgbClr val="FAF2E8"/>
            </a:solidFill>
          </p:spPr>
        </p:sp>
        <p:sp>
          <p:nvSpPr>
            <p:cNvPr name="TextBox 6" id="6"/>
            <p:cNvSpPr txBox="true"/>
            <p:nvPr/>
          </p:nvSpPr>
          <p:spPr>
            <a:xfrm>
              <a:off x="0" y="-38100"/>
              <a:ext cx="4086982" cy="146201"/>
            </a:xfrm>
            <a:prstGeom prst="rect">
              <a:avLst/>
            </a:prstGeom>
          </p:spPr>
          <p:txBody>
            <a:bodyPr anchor="ctr" rtlCol="false" tIns="50800" lIns="50800" bIns="50800" rIns="50800"/>
            <a:lstStyle/>
            <a:p>
              <a:pPr algn="ctr">
                <a:lnSpc>
                  <a:spcPts val="2940"/>
                </a:lnSpc>
              </a:pPr>
            </a:p>
          </p:txBody>
        </p:sp>
      </p:grpSp>
      <p:sp>
        <p:nvSpPr>
          <p:cNvPr name="Freeform 7" id="7"/>
          <p:cNvSpPr/>
          <p:nvPr/>
        </p:nvSpPr>
        <p:spPr>
          <a:xfrm flipH="false" flipV="false" rot="0">
            <a:off x="1568899" y="1118411"/>
            <a:ext cx="345282" cy="231025"/>
          </a:xfrm>
          <a:custGeom>
            <a:avLst/>
            <a:gdLst/>
            <a:ahLst/>
            <a:cxnLst/>
            <a:rect r="r" b="b" t="t" l="l"/>
            <a:pathLst>
              <a:path h="231025" w="345282">
                <a:moveTo>
                  <a:pt x="0" y="0"/>
                </a:moveTo>
                <a:lnTo>
                  <a:pt x="345282" y="0"/>
                </a:lnTo>
                <a:lnTo>
                  <a:pt x="345282" y="231025"/>
                </a:lnTo>
                <a:lnTo>
                  <a:pt x="0" y="23102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8" id="8"/>
          <p:cNvSpPr txBox="true"/>
          <p:nvPr/>
        </p:nvSpPr>
        <p:spPr>
          <a:xfrm rot="0">
            <a:off x="1741540" y="1087556"/>
            <a:ext cx="2343875" cy="264160"/>
          </a:xfrm>
          <a:prstGeom prst="rect">
            <a:avLst/>
          </a:prstGeom>
        </p:spPr>
        <p:txBody>
          <a:bodyPr anchor="t" rtlCol="false" tIns="0" lIns="0" bIns="0" rIns="0">
            <a:spAutoFit/>
          </a:bodyPr>
          <a:lstStyle/>
          <a:p>
            <a:pPr algn="ctr">
              <a:lnSpc>
                <a:spcPts val="2239"/>
              </a:lnSpc>
            </a:pPr>
            <a:r>
              <a:rPr lang="en-US" b="true" sz="1599">
                <a:solidFill>
                  <a:srgbClr val="C26337"/>
                </a:solidFill>
                <a:latin typeface="Be Vietnam Ultra-Bold"/>
                <a:ea typeface="Be Vietnam Ultra-Bold"/>
                <a:cs typeface="Be Vietnam Ultra-Bold"/>
                <a:sym typeface="Be Vietnam Ultra-Bold"/>
              </a:rPr>
              <a:t>Borcelle Company</a:t>
            </a:r>
          </a:p>
        </p:txBody>
      </p:sp>
      <p:sp>
        <p:nvSpPr>
          <p:cNvPr name="TextBox 9" id="9"/>
          <p:cNvSpPr txBox="true"/>
          <p:nvPr/>
        </p:nvSpPr>
        <p:spPr>
          <a:xfrm rot="0">
            <a:off x="11843210" y="1089836"/>
            <a:ext cx="1015978" cy="264160"/>
          </a:xfrm>
          <a:prstGeom prst="rect">
            <a:avLst/>
          </a:prstGeom>
        </p:spPr>
        <p:txBody>
          <a:bodyPr anchor="t" rtlCol="false" tIns="0" lIns="0" bIns="0" rIns="0">
            <a:spAutoFit/>
          </a:bodyPr>
          <a:lstStyle/>
          <a:p>
            <a:pPr algn="ctr">
              <a:lnSpc>
                <a:spcPts val="2239"/>
              </a:lnSpc>
            </a:pPr>
            <a:r>
              <a:rPr lang="en-US" sz="1599">
                <a:solidFill>
                  <a:srgbClr val="C26337"/>
                </a:solidFill>
                <a:latin typeface="Be Vietnam"/>
                <a:ea typeface="Be Vietnam"/>
                <a:cs typeface="Be Vietnam"/>
                <a:sym typeface="Be Vietnam"/>
              </a:rPr>
              <a:t>Home</a:t>
            </a:r>
          </a:p>
        </p:txBody>
      </p:sp>
      <p:sp>
        <p:nvSpPr>
          <p:cNvPr name="TextBox 10" id="10"/>
          <p:cNvSpPr txBox="true"/>
          <p:nvPr/>
        </p:nvSpPr>
        <p:spPr>
          <a:xfrm rot="0">
            <a:off x="13128769" y="1089836"/>
            <a:ext cx="1015978" cy="264160"/>
          </a:xfrm>
          <a:prstGeom prst="rect">
            <a:avLst/>
          </a:prstGeom>
        </p:spPr>
        <p:txBody>
          <a:bodyPr anchor="t" rtlCol="false" tIns="0" lIns="0" bIns="0" rIns="0">
            <a:spAutoFit/>
          </a:bodyPr>
          <a:lstStyle/>
          <a:p>
            <a:pPr algn="ctr">
              <a:lnSpc>
                <a:spcPts val="2239"/>
              </a:lnSpc>
            </a:pPr>
            <a:r>
              <a:rPr lang="en-US" sz="1599">
                <a:solidFill>
                  <a:srgbClr val="C26337"/>
                </a:solidFill>
                <a:latin typeface="Be Vietnam"/>
                <a:ea typeface="Be Vietnam"/>
                <a:cs typeface="Be Vietnam"/>
                <a:sym typeface="Be Vietnam"/>
              </a:rPr>
              <a:t>Gallery</a:t>
            </a:r>
          </a:p>
        </p:txBody>
      </p:sp>
      <p:sp>
        <p:nvSpPr>
          <p:cNvPr name="TextBox 11" id="11"/>
          <p:cNvSpPr txBox="true"/>
          <p:nvPr/>
        </p:nvSpPr>
        <p:spPr>
          <a:xfrm rot="0">
            <a:off x="14411447" y="1089836"/>
            <a:ext cx="1015978" cy="264160"/>
          </a:xfrm>
          <a:prstGeom prst="rect">
            <a:avLst/>
          </a:prstGeom>
        </p:spPr>
        <p:txBody>
          <a:bodyPr anchor="t" rtlCol="false" tIns="0" lIns="0" bIns="0" rIns="0">
            <a:spAutoFit/>
          </a:bodyPr>
          <a:lstStyle/>
          <a:p>
            <a:pPr algn="ctr">
              <a:lnSpc>
                <a:spcPts val="2239"/>
              </a:lnSpc>
            </a:pPr>
            <a:r>
              <a:rPr lang="en-US" sz="1599">
                <a:solidFill>
                  <a:srgbClr val="C26337"/>
                </a:solidFill>
                <a:latin typeface="Be Vietnam"/>
                <a:ea typeface="Be Vietnam"/>
                <a:cs typeface="Be Vietnam"/>
                <a:sym typeface="Be Vietnam"/>
              </a:rPr>
              <a:t>About Us</a:t>
            </a:r>
          </a:p>
        </p:txBody>
      </p:sp>
      <p:sp>
        <p:nvSpPr>
          <p:cNvPr name="TextBox 12" id="12"/>
          <p:cNvSpPr txBox="true"/>
          <p:nvPr/>
        </p:nvSpPr>
        <p:spPr>
          <a:xfrm rot="0">
            <a:off x="15694125" y="1089836"/>
            <a:ext cx="1015978" cy="264160"/>
          </a:xfrm>
          <a:prstGeom prst="rect">
            <a:avLst/>
          </a:prstGeom>
        </p:spPr>
        <p:txBody>
          <a:bodyPr anchor="t" rtlCol="false" tIns="0" lIns="0" bIns="0" rIns="0">
            <a:spAutoFit/>
          </a:bodyPr>
          <a:lstStyle/>
          <a:p>
            <a:pPr algn="ctr">
              <a:lnSpc>
                <a:spcPts val="2239"/>
              </a:lnSpc>
            </a:pPr>
            <a:r>
              <a:rPr lang="en-US" sz="1599">
                <a:solidFill>
                  <a:srgbClr val="C26337"/>
                </a:solidFill>
                <a:latin typeface="Be Vietnam"/>
                <a:ea typeface="Be Vietnam"/>
                <a:cs typeface="Be Vietnam"/>
                <a:sym typeface="Be Vietnam"/>
              </a:rPr>
              <a:t>Menu</a:t>
            </a:r>
          </a:p>
        </p:txBody>
      </p:sp>
      <p:grpSp>
        <p:nvGrpSpPr>
          <p:cNvPr name="Group 13" id="13"/>
          <p:cNvGrpSpPr/>
          <p:nvPr/>
        </p:nvGrpSpPr>
        <p:grpSpPr>
          <a:xfrm rot="0">
            <a:off x="16349641" y="9258300"/>
            <a:ext cx="909659" cy="1487543"/>
            <a:chOff x="0" y="0"/>
            <a:chExt cx="239581" cy="391781"/>
          </a:xfrm>
        </p:grpSpPr>
        <p:sp>
          <p:nvSpPr>
            <p:cNvPr name="Freeform 14" id="14"/>
            <p:cNvSpPr/>
            <p:nvPr/>
          </p:nvSpPr>
          <p:spPr>
            <a:xfrm flipH="false" flipV="false" rot="0">
              <a:off x="0" y="0"/>
              <a:ext cx="239581" cy="391781"/>
            </a:xfrm>
            <a:custGeom>
              <a:avLst/>
              <a:gdLst/>
              <a:ahLst/>
              <a:cxnLst/>
              <a:rect r="r" b="b" t="t" l="l"/>
              <a:pathLst>
                <a:path h="391781" w="239581">
                  <a:moveTo>
                    <a:pt x="119790" y="0"/>
                  </a:moveTo>
                  <a:lnTo>
                    <a:pt x="119790" y="0"/>
                  </a:lnTo>
                  <a:cubicBezTo>
                    <a:pt x="151561" y="0"/>
                    <a:pt x="182030" y="12621"/>
                    <a:pt x="204495" y="35086"/>
                  </a:cubicBezTo>
                  <a:cubicBezTo>
                    <a:pt x="226960" y="57551"/>
                    <a:pt x="239581" y="88020"/>
                    <a:pt x="239581" y="119790"/>
                  </a:cubicBezTo>
                  <a:lnTo>
                    <a:pt x="239581" y="271990"/>
                  </a:lnTo>
                  <a:cubicBezTo>
                    <a:pt x="239581" y="303761"/>
                    <a:pt x="226960" y="334230"/>
                    <a:pt x="204495" y="356695"/>
                  </a:cubicBezTo>
                  <a:cubicBezTo>
                    <a:pt x="182030" y="379160"/>
                    <a:pt x="151561" y="391781"/>
                    <a:pt x="119790" y="391781"/>
                  </a:cubicBezTo>
                  <a:lnTo>
                    <a:pt x="119790" y="391781"/>
                  </a:lnTo>
                  <a:cubicBezTo>
                    <a:pt x="88020" y="391781"/>
                    <a:pt x="57551" y="379160"/>
                    <a:pt x="35086" y="356695"/>
                  </a:cubicBezTo>
                  <a:cubicBezTo>
                    <a:pt x="12621" y="334230"/>
                    <a:pt x="0" y="303761"/>
                    <a:pt x="0" y="271990"/>
                  </a:cubicBezTo>
                  <a:lnTo>
                    <a:pt x="0" y="119790"/>
                  </a:lnTo>
                  <a:cubicBezTo>
                    <a:pt x="0" y="88020"/>
                    <a:pt x="12621" y="57551"/>
                    <a:pt x="35086" y="35086"/>
                  </a:cubicBezTo>
                  <a:cubicBezTo>
                    <a:pt x="57551" y="12621"/>
                    <a:pt x="88020" y="0"/>
                    <a:pt x="119790" y="0"/>
                  </a:cubicBezTo>
                  <a:close/>
                </a:path>
              </a:pathLst>
            </a:custGeom>
            <a:solidFill>
              <a:srgbClr val="FAF2E8"/>
            </a:solidFill>
          </p:spPr>
        </p:sp>
        <p:sp>
          <p:nvSpPr>
            <p:cNvPr name="TextBox 15" id="15"/>
            <p:cNvSpPr txBox="true"/>
            <p:nvPr/>
          </p:nvSpPr>
          <p:spPr>
            <a:xfrm>
              <a:off x="0" y="-38100"/>
              <a:ext cx="239581" cy="429881"/>
            </a:xfrm>
            <a:prstGeom prst="rect">
              <a:avLst/>
            </a:prstGeom>
          </p:spPr>
          <p:txBody>
            <a:bodyPr anchor="ctr" rtlCol="false" tIns="50800" lIns="50800" bIns="50800" rIns="50800"/>
            <a:lstStyle/>
            <a:p>
              <a:pPr algn="ctr">
                <a:lnSpc>
                  <a:spcPts val="2940"/>
                </a:lnSpc>
              </a:pPr>
            </a:p>
          </p:txBody>
        </p:sp>
      </p:grpSp>
      <p:sp>
        <p:nvSpPr>
          <p:cNvPr name="TextBox 16" id="16"/>
          <p:cNvSpPr txBox="true"/>
          <p:nvPr/>
        </p:nvSpPr>
        <p:spPr>
          <a:xfrm rot="0">
            <a:off x="16287702" y="9393452"/>
            <a:ext cx="1033538" cy="608620"/>
          </a:xfrm>
          <a:prstGeom prst="rect">
            <a:avLst/>
          </a:prstGeom>
        </p:spPr>
        <p:txBody>
          <a:bodyPr anchor="t" rtlCol="false" tIns="0" lIns="0" bIns="0" rIns="0">
            <a:spAutoFit/>
          </a:bodyPr>
          <a:lstStyle/>
          <a:p>
            <a:pPr algn="ctr">
              <a:lnSpc>
                <a:spcPts val="4910"/>
              </a:lnSpc>
            </a:pPr>
            <a:r>
              <a:rPr lang="en-US" sz="3507" b="true">
                <a:solidFill>
                  <a:srgbClr val="C26337"/>
                </a:solidFill>
                <a:latin typeface="Be Vietnam Ultra-Bold"/>
                <a:ea typeface="Be Vietnam Ultra-Bold"/>
                <a:cs typeface="Be Vietnam Ultra-Bold"/>
                <a:sym typeface="Be Vietnam Ultra-Bold"/>
              </a:rPr>
              <a:t>17</a:t>
            </a:r>
          </a:p>
        </p:txBody>
      </p:sp>
      <p:sp>
        <p:nvSpPr>
          <p:cNvPr name="Freeform 17" id="17"/>
          <p:cNvSpPr/>
          <p:nvPr/>
        </p:nvSpPr>
        <p:spPr>
          <a:xfrm flipH="false" flipV="false" rot="0">
            <a:off x="14407225" y="2926438"/>
            <a:ext cx="2852075" cy="1254913"/>
          </a:xfrm>
          <a:custGeom>
            <a:avLst/>
            <a:gdLst/>
            <a:ahLst/>
            <a:cxnLst/>
            <a:rect r="r" b="b" t="t" l="l"/>
            <a:pathLst>
              <a:path h="1254913" w="2852075">
                <a:moveTo>
                  <a:pt x="0" y="0"/>
                </a:moveTo>
                <a:lnTo>
                  <a:pt x="2852075" y="0"/>
                </a:lnTo>
                <a:lnTo>
                  <a:pt x="2852075" y="1254913"/>
                </a:lnTo>
                <a:lnTo>
                  <a:pt x="0" y="125491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8" id="18"/>
          <p:cNvSpPr/>
          <p:nvPr/>
        </p:nvSpPr>
        <p:spPr>
          <a:xfrm flipH="false" flipV="false" rot="0">
            <a:off x="789116" y="5383836"/>
            <a:ext cx="2852075" cy="1254913"/>
          </a:xfrm>
          <a:custGeom>
            <a:avLst/>
            <a:gdLst/>
            <a:ahLst/>
            <a:cxnLst/>
            <a:rect r="r" b="b" t="t" l="l"/>
            <a:pathLst>
              <a:path h="1254913" w="2852075">
                <a:moveTo>
                  <a:pt x="0" y="0"/>
                </a:moveTo>
                <a:lnTo>
                  <a:pt x="2852076" y="0"/>
                </a:lnTo>
                <a:lnTo>
                  <a:pt x="2852076" y="1254913"/>
                </a:lnTo>
                <a:lnTo>
                  <a:pt x="0" y="125491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9" id="19"/>
          <p:cNvSpPr/>
          <p:nvPr/>
        </p:nvSpPr>
        <p:spPr>
          <a:xfrm flipH="false" flipV="false" rot="0">
            <a:off x="2215154" y="2575547"/>
            <a:ext cx="763618" cy="1276565"/>
          </a:xfrm>
          <a:custGeom>
            <a:avLst/>
            <a:gdLst/>
            <a:ahLst/>
            <a:cxnLst/>
            <a:rect r="r" b="b" t="t" l="l"/>
            <a:pathLst>
              <a:path h="1276565" w="763618">
                <a:moveTo>
                  <a:pt x="0" y="0"/>
                </a:moveTo>
                <a:lnTo>
                  <a:pt x="763618" y="0"/>
                </a:lnTo>
                <a:lnTo>
                  <a:pt x="763618" y="1276565"/>
                </a:lnTo>
                <a:lnTo>
                  <a:pt x="0" y="127656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20" id="20"/>
          <p:cNvSpPr/>
          <p:nvPr/>
        </p:nvSpPr>
        <p:spPr>
          <a:xfrm flipH="false" flipV="false" rot="0">
            <a:off x="15586023" y="6834559"/>
            <a:ext cx="763618" cy="1276565"/>
          </a:xfrm>
          <a:custGeom>
            <a:avLst/>
            <a:gdLst/>
            <a:ahLst/>
            <a:cxnLst/>
            <a:rect r="r" b="b" t="t" l="l"/>
            <a:pathLst>
              <a:path h="1276565" w="763618">
                <a:moveTo>
                  <a:pt x="0" y="0"/>
                </a:moveTo>
                <a:lnTo>
                  <a:pt x="763618" y="0"/>
                </a:lnTo>
                <a:lnTo>
                  <a:pt x="763618" y="1276564"/>
                </a:lnTo>
                <a:lnTo>
                  <a:pt x="0" y="127656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DAHSz2IYJRQ</dc:identifier>
  <dcterms:modified xsi:type="dcterms:W3CDTF">2011-08-01T06:04:30Z</dcterms:modified>
  <cp:revision>1</cp:revision>
  <dc:title>Warehouse slotting optimizer</dc:title>
</cp:coreProperties>
</file>