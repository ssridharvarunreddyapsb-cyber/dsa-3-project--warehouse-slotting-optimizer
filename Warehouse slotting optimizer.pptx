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e Vietnam Ultra-Bold" charset="1" panose="00000900000000000000"/>
      <p:regular r:id="rId16"/>
    </p:embeddedFont>
    <p:embeddedFont>
      <p:font typeface="Be Vietnam" charset="1" panose="00000500000000000000"/>
      <p:regular r:id="rId17"/>
    </p:embeddedFont>
    <p:embeddedFont>
      <p:font typeface="Canva Sans" charset="1" panose="020B0503030501040103"/>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1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2.png" Type="http://schemas.openxmlformats.org/officeDocument/2006/relationships/image"/><Relationship Id="rId5"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sp>
        <p:nvSpPr>
          <p:cNvPr name="Freeform 2" id="2"/>
          <p:cNvSpPr/>
          <p:nvPr/>
        </p:nvSpPr>
        <p:spPr>
          <a:xfrm flipH="false" flipV="false" rot="0">
            <a:off x="-479132" y="6394781"/>
            <a:ext cx="19859326" cy="10976791"/>
          </a:xfrm>
          <a:custGeom>
            <a:avLst/>
            <a:gdLst/>
            <a:ahLst/>
            <a:cxnLst/>
            <a:rect r="r" b="b" t="t" l="l"/>
            <a:pathLst>
              <a:path h="10976791" w="19859326">
                <a:moveTo>
                  <a:pt x="0" y="0"/>
                </a:moveTo>
                <a:lnTo>
                  <a:pt x="19859326" y="0"/>
                </a:lnTo>
                <a:lnTo>
                  <a:pt x="19859326" y="10976791"/>
                </a:lnTo>
                <a:lnTo>
                  <a:pt x="0" y="109767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10356" y="2764105"/>
            <a:ext cx="7097385" cy="6206986"/>
          </a:xfrm>
          <a:custGeom>
            <a:avLst/>
            <a:gdLst/>
            <a:ahLst/>
            <a:cxnLst/>
            <a:rect r="r" b="b" t="t" l="l"/>
            <a:pathLst>
              <a:path h="6206986" w="7097385">
                <a:moveTo>
                  <a:pt x="0" y="0"/>
                </a:moveTo>
                <a:lnTo>
                  <a:pt x="7097385" y="0"/>
                </a:lnTo>
                <a:lnTo>
                  <a:pt x="7097385" y="6206986"/>
                </a:lnTo>
                <a:lnTo>
                  <a:pt x="0" y="6206986"/>
                </a:lnTo>
                <a:lnTo>
                  <a:pt x="0" y="0"/>
                </a:lnTo>
                <a:close/>
              </a:path>
            </a:pathLst>
          </a:custGeom>
          <a:blipFill>
            <a:blip r:embed="rId4"/>
            <a:stretch>
              <a:fillRect l="0" t="0" r="0" b="0"/>
            </a:stretch>
          </a:blipFill>
        </p:spPr>
      </p:sp>
      <p:sp>
        <p:nvSpPr>
          <p:cNvPr name="Freeform 4" id="4"/>
          <p:cNvSpPr/>
          <p:nvPr/>
        </p:nvSpPr>
        <p:spPr>
          <a:xfrm flipH="false" flipV="false" rot="0">
            <a:off x="3220009" y="5588813"/>
            <a:ext cx="5896656" cy="3216358"/>
          </a:xfrm>
          <a:custGeom>
            <a:avLst/>
            <a:gdLst/>
            <a:ahLst/>
            <a:cxnLst/>
            <a:rect r="r" b="b" t="t" l="l"/>
            <a:pathLst>
              <a:path h="3216358" w="5896656">
                <a:moveTo>
                  <a:pt x="0" y="0"/>
                </a:moveTo>
                <a:lnTo>
                  <a:pt x="5896656" y="0"/>
                </a:lnTo>
                <a:lnTo>
                  <a:pt x="5896656" y="3216358"/>
                </a:lnTo>
                <a:lnTo>
                  <a:pt x="0" y="32163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92194" y="6642833"/>
            <a:ext cx="3312906" cy="1108318"/>
          </a:xfrm>
          <a:custGeom>
            <a:avLst/>
            <a:gdLst/>
            <a:ahLst/>
            <a:cxnLst/>
            <a:rect r="r" b="b" t="t" l="l"/>
            <a:pathLst>
              <a:path h="1108318" w="3312906">
                <a:moveTo>
                  <a:pt x="0" y="0"/>
                </a:moveTo>
                <a:lnTo>
                  <a:pt x="3312906" y="0"/>
                </a:lnTo>
                <a:lnTo>
                  <a:pt x="3312906" y="1108318"/>
                </a:lnTo>
                <a:lnTo>
                  <a:pt x="0" y="110831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6" id="6"/>
          <p:cNvSpPr txBox="true"/>
          <p:nvPr/>
        </p:nvSpPr>
        <p:spPr>
          <a:xfrm rot="0">
            <a:off x="1028700" y="2010723"/>
            <a:ext cx="12140780" cy="2577062"/>
          </a:xfrm>
          <a:prstGeom prst="rect">
            <a:avLst/>
          </a:prstGeom>
        </p:spPr>
        <p:txBody>
          <a:bodyPr anchor="t" rtlCol="false" tIns="0" lIns="0" bIns="0" rIns="0">
            <a:spAutoFit/>
          </a:bodyPr>
          <a:lstStyle/>
          <a:p>
            <a:pPr algn="l">
              <a:lnSpc>
                <a:spcPts val="10017"/>
              </a:lnSpc>
            </a:pPr>
            <a:r>
              <a:rPr lang="en-US" sz="9190" b="true">
                <a:solidFill>
                  <a:srgbClr val="C26337"/>
                </a:solidFill>
                <a:latin typeface="Be Vietnam Ultra-Bold"/>
                <a:ea typeface="Be Vietnam Ultra-Bold"/>
                <a:cs typeface="Be Vietnam Ultra-Bold"/>
                <a:sym typeface="Be Vietnam Ultra-Bold"/>
              </a:rPr>
              <a:t>WAREHOUSE SLOTTING OPTIMIZER</a:t>
            </a:r>
          </a:p>
        </p:txBody>
      </p:sp>
      <p:sp>
        <p:nvSpPr>
          <p:cNvPr name="Freeform 7" id="7"/>
          <p:cNvSpPr/>
          <p:nvPr/>
        </p:nvSpPr>
        <p:spPr>
          <a:xfrm flipH="false" flipV="false" rot="0">
            <a:off x="16508645" y="2598185"/>
            <a:ext cx="2798192" cy="1231204"/>
          </a:xfrm>
          <a:custGeom>
            <a:avLst/>
            <a:gdLst/>
            <a:ahLst/>
            <a:cxnLst/>
            <a:rect r="r" b="b" t="t" l="l"/>
            <a:pathLst>
              <a:path h="1231204" w="2798192">
                <a:moveTo>
                  <a:pt x="0" y="0"/>
                </a:moveTo>
                <a:lnTo>
                  <a:pt x="2798192" y="0"/>
                </a:lnTo>
                <a:lnTo>
                  <a:pt x="2798192" y="1231204"/>
                </a:lnTo>
                <a:lnTo>
                  <a:pt x="0" y="12312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1213745" y="1686894"/>
            <a:ext cx="935996" cy="1564734"/>
          </a:xfrm>
          <a:custGeom>
            <a:avLst/>
            <a:gdLst/>
            <a:ahLst/>
            <a:cxnLst/>
            <a:rect r="r" b="b" t="t" l="l"/>
            <a:pathLst>
              <a:path h="1564734" w="935996">
                <a:moveTo>
                  <a:pt x="0" y="0"/>
                </a:moveTo>
                <a:lnTo>
                  <a:pt x="935996" y="0"/>
                </a:lnTo>
                <a:lnTo>
                  <a:pt x="935996" y="1564735"/>
                </a:lnTo>
                <a:lnTo>
                  <a:pt x="0" y="15647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grpSp>
        <p:nvGrpSpPr>
          <p:cNvPr name="Group 9" id="9"/>
          <p:cNvGrpSpPr/>
          <p:nvPr/>
        </p:nvGrpSpPr>
        <p:grpSpPr>
          <a:xfrm rot="0">
            <a:off x="0" y="9258300"/>
            <a:ext cx="17907741" cy="770939"/>
            <a:chOff x="0" y="0"/>
            <a:chExt cx="4716442" cy="203046"/>
          </a:xfrm>
        </p:grpSpPr>
        <p:sp>
          <p:nvSpPr>
            <p:cNvPr name="Freeform 10" id="10"/>
            <p:cNvSpPr/>
            <p:nvPr/>
          </p:nvSpPr>
          <p:spPr>
            <a:xfrm flipH="false" flipV="false" rot="0">
              <a:off x="0" y="0"/>
              <a:ext cx="4716442" cy="203046"/>
            </a:xfrm>
            <a:custGeom>
              <a:avLst/>
              <a:gdLst/>
              <a:ahLst/>
              <a:cxnLst/>
              <a:rect r="r" b="b" t="t" l="l"/>
              <a:pathLst>
                <a:path h="203046" w="4716442">
                  <a:moveTo>
                    <a:pt x="22048" y="0"/>
                  </a:moveTo>
                  <a:lnTo>
                    <a:pt x="4694394" y="0"/>
                  </a:lnTo>
                  <a:cubicBezTo>
                    <a:pt x="4700241" y="0"/>
                    <a:pt x="4705850" y="2323"/>
                    <a:pt x="4709985" y="6458"/>
                  </a:cubicBezTo>
                  <a:cubicBezTo>
                    <a:pt x="4714119" y="10593"/>
                    <a:pt x="4716442" y="16201"/>
                    <a:pt x="4716442" y="22048"/>
                  </a:cubicBezTo>
                  <a:lnTo>
                    <a:pt x="4716442" y="180997"/>
                  </a:lnTo>
                  <a:cubicBezTo>
                    <a:pt x="4716442" y="193174"/>
                    <a:pt x="4706571" y="203046"/>
                    <a:pt x="4694394" y="203046"/>
                  </a:cubicBezTo>
                  <a:lnTo>
                    <a:pt x="22048" y="203046"/>
                  </a:lnTo>
                  <a:cubicBezTo>
                    <a:pt x="9871" y="203046"/>
                    <a:pt x="0" y="193174"/>
                    <a:pt x="0" y="180997"/>
                  </a:cubicBezTo>
                  <a:lnTo>
                    <a:pt x="0" y="22048"/>
                  </a:lnTo>
                  <a:cubicBezTo>
                    <a:pt x="0" y="9871"/>
                    <a:pt x="9871" y="0"/>
                    <a:pt x="22048" y="0"/>
                  </a:cubicBezTo>
                  <a:close/>
                </a:path>
              </a:pathLst>
            </a:custGeom>
            <a:solidFill>
              <a:srgbClr val="3F3E3D"/>
            </a:solidFill>
          </p:spPr>
        </p:sp>
        <p:sp>
          <p:nvSpPr>
            <p:cNvPr name="TextBox 11" id="11"/>
            <p:cNvSpPr txBox="true"/>
            <p:nvPr/>
          </p:nvSpPr>
          <p:spPr>
            <a:xfrm>
              <a:off x="0" y="-38100"/>
              <a:ext cx="4716442" cy="241146"/>
            </a:xfrm>
            <a:prstGeom prst="rect">
              <a:avLst/>
            </a:prstGeom>
          </p:spPr>
          <p:txBody>
            <a:bodyPr anchor="ctr" rtlCol="false" tIns="50800" lIns="50800" bIns="50800" rIns="50800"/>
            <a:lstStyle/>
            <a:p>
              <a:pPr algn="ctr">
                <a:lnSpc>
                  <a:spcPts val="2940"/>
                </a:lnSpc>
              </a:pPr>
            </a:p>
          </p:txBody>
        </p:sp>
      </p:grpSp>
      <p:sp>
        <p:nvSpPr>
          <p:cNvPr name="Freeform 12" id="12"/>
          <p:cNvSpPr/>
          <p:nvPr/>
        </p:nvSpPr>
        <p:spPr>
          <a:xfrm flipH="false" flipV="false" rot="0">
            <a:off x="0" y="120982"/>
            <a:ext cx="4841164" cy="1815436"/>
          </a:xfrm>
          <a:custGeom>
            <a:avLst/>
            <a:gdLst/>
            <a:ahLst/>
            <a:cxnLst/>
            <a:rect r="r" b="b" t="t" l="l"/>
            <a:pathLst>
              <a:path h="1815436" w="4841164">
                <a:moveTo>
                  <a:pt x="0" y="0"/>
                </a:moveTo>
                <a:lnTo>
                  <a:pt x="4841164" y="0"/>
                </a:lnTo>
                <a:lnTo>
                  <a:pt x="4841164" y="1815436"/>
                </a:lnTo>
                <a:lnTo>
                  <a:pt x="0" y="1815436"/>
                </a:lnTo>
                <a:lnTo>
                  <a:pt x="0" y="0"/>
                </a:lnTo>
                <a:close/>
              </a:path>
            </a:pathLst>
          </a:custGeom>
          <a:blipFill>
            <a:blip r:embed="rId13"/>
            <a:stretch>
              <a:fillRect l="0" t="0" r="0" b="0"/>
            </a:stretch>
          </a:blipFill>
        </p:spPr>
      </p:sp>
      <p:sp>
        <p:nvSpPr>
          <p:cNvPr name="TextBox 13" id="13"/>
          <p:cNvSpPr txBox="true"/>
          <p:nvPr/>
        </p:nvSpPr>
        <p:spPr>
          <a:xfrm rot="0">
            <a:off x="305681" y="9434854"/>
            <a:ext cx="5079206" cy="379730"/>
          </a:xfrm>
          <a:prstGeom prst="rect">
            <a:avLst/>
          </a:prstGeom>
        </p:spPr>
        <p:txBody>
          <a:bodyPr anchor="t" rtlCol="false" tIns="0" lIns="0" bIns="0" rIns="0">
            <a:spAutoFit/>
          </a:bodyPr>
          <a:lstStyle/>
          <a:p>
            <a:pPr algn="ctr">
              <a:lnSpc>
                <a:spcPts val="3219"/>
              </a:lnSpc>
              <a:spcBef>
                <a:spcPct val="0"/>
              </a:spcBef>
            </a:pPr>
            <a:r>
              <a:rPr lang="en-US" sz="2299">
                <a:solidFill>
                  <a:srgbClr val="FFFFFF"/>
                </a:solidFill>
                <a:latin typeface="Be Vietnam"/>
                <a:ea typeface="Be Vietnam"/>
                <a:cs typeface="Be Vietnam"/>
                <a:sym typeface="Be Vietnam"/>
              </a:rPr>
              <a:t>Battapothula Guru Sai- 2520090075</a:t>
            </a:r>
          </a:p>
        </p:txBody>
      </p:sp>
      <p:sp>
        <p:nvSpPr>
          <p:cNvPr name="TextBox 14" id="14"/>
          <p:cNvSpPr txBox="true"/>
          <p:nvPr/>
        </p:nvSpPr>
        <p:spPr>
          <a:xfrm rot="0">
            <a:off x="11442345" y="9408819"/>
            <a:ext cx="6415681" cy="405765"/>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Be Vietnam"/>
                <a:ea typeface="Be Vietnam"/>
                <a:cs typeface="Be Vietnam"/>
                <a:sym typeface="Be Vietnam"/>
              </a:rPr>
              <a:t>Sampati Varun Sridhar Reddy 2520090083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sp>
        <p:nvSpPr>
          <p:cNvPr name="Freeform 2" id="2"/>
          <p:cNvSpPr/>
          <p:nvPr/>
        </p:nvSpPr>
        <p:spPr>
          <a:xfrm flipH="true" flipV="false" rot="0">
            <a:off x="0" y="5029690"/>
            <a:ext cx="6245185" cy="5257310"/>
          </a:xfrm>
          <a:custGeom>
            <a:avLst/>
            <a:gdLst/>
            <a:ahLst/>
            <a:cxnLst/>
            <a:rect r="r" b="b" t="t" l="l"/>
            <a:pathLst>
              <a:path h="5257310" w="6245185">
                <a:moveTo>
                  <a:pt x="6245185" y="0"/>
                </a:moveTo>
                <a:lnTo>
                  <a:pt x="0" y="0"/>
                </a:lnTo>
                <a:lnTo>
                  <a:pt x="0" y="5257310"/>
                </a:lnTo>
                <a:lnTo>
                  <a:pt x="6245185" y="5257310"/>
                </a:lnTo>
                <a:lnTo>
                  <a:pt x="6245185" y="0"/>
                </a:lnTo>
                <a:close/>
              </a:path>
            </a:pathLst>
          </a:custGeom>
          <a:blipFill>
            <a:blip r:embed="rId2"/>
            <a:stretch>
              <a:fillRect l="0" t="0" r="0" b="0"/>
            </a:stretch>
          </a:blipFill>
        </p:spPr>
      </p:sp>
      <p:grpSp>
        <p:nvGrpSpPr>
          <p:cNvPr name="Group 3" id="3"/>
          <p:cNvGrpSpPr/>
          <p:nvPr/>
        </p:nvGrpSpPr>
        <p:grpSpPr>
          <a:xfrm rot="0">
            <a:off x="16349641" y="9258300"/>
            <a:ext cx="909659" cy="1487543"/>
            <a:chOff x="0" y="0"/>
            <a:chExt cx="239581" cy="391781"/>
          </a:xfrm>
        </p:grpSpPr>
        <p:sp>
          <p:nvSpPr>
            <p:cNvPr name="Freeform 4" id="4"/>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DA7D51"/>
            </a:solidFill>
          </p:spPr>
        </p:sp>
        <p:sp>
          <p:nvSpPr>
            <p:cNvPr name="TextBox 5" id="5"/>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6820798" y="1140954"/>
            <a:ext cx="6815961" cy="862256"/>
          </a:xfrm>
          <a:prstGeom prst="rect">
            <a:avLst/>
          </a:prstGeom>
        </p:spPr>
        <p:txBody>
          <a:bodyPr anchor="t" rtlCol="false" tIns="0" lIns="0" bIns="0" rIns="0">
            <a:spAutoFit/>
          </a:bodyPr>
          <a:lstStyle/>
          <a:p>
            <a:pPr algn="l">
              <a:lnSpc>
                <a:spcPts val="7074"/>
              </a:lnSpc>
            </a:pPr>
            <a:r>
              <a:rPr lang="en-US" sz="5052" b="true">
                <a:solidFill>
                  <a:srgbClr val="C26337"/>
                </a:solidFill>
                <a:latin typeface="Be Vietnam Ultra-Bold"/>
                <a:ea typeface="Be Vietnam Ultra-Bold"/>
                <a:cs typeface="Be Vietnam Ultra-Bold"/>
                <a:sym typeface="Be Vietnam Ultra-Bold"/>
              </a:rPr>
              <a:t>Abstract</a:t>
            </a:r>
          </a:p>
        </p:txBody>
      </p:sp>
      <p:sp>
        <p:nvSpPr>
          <p:cNvPr name="TextBox 7" id="7"/>
          <p:cNvSpPr txBox="true"/>
          <p:nvPr/>
        </p:nvSpPr>
        <p:spPr>
          <a:xfrm rot="0">
            <a:off x="11843210" y="1089836"/>
            <a:ext cx="1015978" cy="264160"/>
          </a:xfrm>
          <a:prstGeom prst="rect">
            <a:avLst/>
          </a:prstGeom>
        </p:spPr>
        <p:txBody>
          <a:bodyPr anchor="t" rtlCol="false" tIns="0" lIns="0" bIns="0" rIns="0">
            <a:spAutoFit/>
          </a:bodyPr>
          <a:lstStyle/>
          <a:p>
            <a:pPr algn="ctr">
              <a:lnSpc>
                <a:spcPts val="2239"/>
              </a:lnSpc>
            </a:pPr>
            <a:r>
              <a:rPr lang="en-US" sz="1599">
                <a:solidFill>
                  <a:srgbClr val="FFFFFF"/>
                </a:solidFill>
                <a:latin typeface="Be Vietnam"/>
                <a:ea typeface="Be Vietnam"/>
                <a:cs typeface="Be Vietnam"/>
                <a:sym typeface="Be Vietnam"/>
              </a:rPr>
              <a:t>Home</a:t>
            </a:r>
          </a:p>
        </p:txBody>
      </p:sp>
      <p:sp>
        <p:nvSpPr>
          <p:cNvPr name="TextBox 8" id="8"/>
          <p:cNvSpPr txBox="true"/>
          <p:nvPr/>
        </p:nvSpPr>
        <p:spPr>
          <a:xfrm rot="0">
            <a:off x="13128769" y="1089836"/>
            <a:ext cx="1015978" cy="264160"/>
          </a:xfrm>
          <a:prstGeom prst="rect">
            <a:avLst/>
          </a:prstGeom>
        </p:spPr>
        <p:txBody>
          <a:bodyPr anchor="t" rtlCol="false" tIns="0" lIns="0" bIns="0" rIns="0">
            <a:spAutoFit/>
          </a:bodyPr>
          <a:lstStyle/>
          <a:p>
            <a:pPr algn="ctr">
              <a:lnSpc>
                <a:spcPts val="2239"/>
              </a:lnSpc>
            </a:pPr>
            <a:r>
              <a:rPr lang="en-US" sz="1599">
                <a:solidFill>
                  <a:srgbClr val="FFFFFF"/>
                </a:solidFill>
                <a:latin typeface="Be Vietnam"/>
                <a:ea typeface="Be Vietnam"/>
                <a:cs typeface="Be Vietnam"/>
                <a:sym typeface="Be Vietnam"/>
              </a:rPr>
              <a:t>Gallery</a:t>
            </a:r>
          </a:p>
        </p:txBody>
      </p:sp>
      <p:sp>
        <p:nvSpPr>
          <p:cNvPr name="TextBox 9" id="9"/>
          <p:cNvSpPr txBox="true"/>
          <p:nvPr/>
        </p:nvSpPr>
        <p:spPr>
          <a:xfrm rot="0">
            <a:off x="14411447" y="1089836"/>
            <a:ext cx="1015978" cy="264160"/>
          </a:xfrm>
          <a:prstGeom prst="rect">
            <a:avLst/>
          </a:prstGeom>
        </p:spPr>
        <p:txBody>
          <a:bodyPr anchor="t" rtlCol="false" tIns="0" lIns="0" bIns="0" rIns="0">
            <a:spAutoFit/>
          </a:bodyPr>
          <a:lstStyle/>
          <a:p>
            <a:pPr algn="ctr">
              <a:lnSpc>
                <a:spcPts val="2239"/>
              </a:lnSpc>
            </a:pPr>
            <a:r>
              <a:rPr lang="en-US" sz="1599">
                <a:solidFill>
                  <a:srgbClr val="FFFFFF"/>
                </a:solidFill>
                <a:latin typeface="Be Vietnam"/>
                <a:ea typeface="Be Vietnam"/>
                <a:cs typeface="Be Vietnam"/>
                <a:sym typeface="Be Vietnam"/>
              </a:rPr>
              <a:t>About Us</a:t>
            </a:r>
          </a:p>
        </p:txBody>
      </p:sp>
      <p:sp>
        <p:nvSpPr>
          <p:cNvPr name="TextBox 10" id="10"/>
          <p:cNvSpPr txBox="true"/>
          <p:nvPr/>
        </p:nvSpPr>
        <p:spPr>
          <a:xfrm rot="0">
            <a:off x="15694125" y="1089836"/>
            <a:ext cx="1015978" cy="264160"/>
          </a:xfrm>
          <a:prstGeom prst="rect">
            <a:avLst/>
          </a:prstGeom>
        </p:spPr>
        <p:txBody>
          <a:bodyPr anchor="t" rtlCol="false" tIns="0" lIns="0" bIns="0" rIns="0">
            <a:spAutoFit/>
          </a:bodyPr>
          <a:lstStyle/>
          <a:p>
            <a:pPr algn="ctr">
              <a:lnSpc>
                <a:spcPts val="2239"/>
              </a:lnSpc>
            </a:pPr>
            <a:r>
              <a:rPr lang="en-US" sz="1599">
                <a:solidFill>
                  <a:srgbClr val="FFFFFF"/>
                </a:solidFill>
                <a:latin typeface="Be Vietnam"/>
                <a:ea typeface="Be Vietnam"/>
                <a:cs typeface="Be Vietnam"/>
                <a:sym typeface="Be Vietnam"/>
              </a:rPr>
              <a:t>Menu</a:t>
            </a:r>
          </a:p>
        </p:txBody>
      </p:sp>
      <p:sp>
        <p:nvSpPr>
          <p:cNvPr name="TextBox 11" id="11"/>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FFFFFF"/>
                </a:solidFill>
                <a:latin typeface="Be Vietnam Ultra-Bold"/>
                <a:ea typeface="Be Vietnam Ultra-Bold"/>
                <a:cs typeface="Be Vietnam Ultra-Bold"/>
                <a:sym typeface="Be Vietnam Ultra-Bold"/>
              </a:rPr>
              <a:t>02</a:t>
            </a:r>
          </a:p>
        </p:txBody>
      </p:sp>
      <p:sp>
        <p:nvSpPr>
          <p:cNvPr name="Freeform 12" id="12"/>
          <p:cNvSpPr/>
          <p:nvPr/>
        </p:nvSpPr>
        <p:spPr>
          <a:xfrm flipH="false" flipV="false" rot="0">
            <a:off x="-663826" y="2363149"/>
            <a:ext cx="4043766" cy="1654268"/>
          </a:xfrm>
          <a:custGeom>
            <a:avLst/>
            <a:gdLst/>
            <a:ahLst/>
            <a:cxnLst/>
            <a:rect r="r" b="b" t="t" l="l"/>
            <a:pathLst>
              <a:path h="1654268" w="4043766">
                <a:moveTo>
                  <a:pt x="0" y="0"/>
                </a:moveTo>
                <a:lnTo>
                  <a:pt x="4043766" y="0"/>
                </a:lnTo>
                <a:lnTo>
                  <a:pt x="4043766" y="1654268"/>
                </a:lnTo>
                <a:lnTo>
                  <a:pt x="0" y="1654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13" id="13"/>
          <p:cNvSpPr txBox="true"/>
          <p:nvPr/>
        </p:nvSpPr>
        <p:spPr>
          <a:xfrm rot="0">
            <a:off x="6312284" y="2511900"/>
            <a:ext cx="11975716" cy="6656071"/>
          </a:xfrm>
          <a:prstGeom prst="rect">
            <a:avLst/>
          </a:prstGeom>
        </p:spPr>
        <p:txBody>
          <a:bodyPr anchor="t" rtlCol="false" tIns="0" lIns="0" bIns="0" rIns="0">
            <a:spAutoFit/>
          </a:bodyPr>
          <a:lstStyle/>
          <a:p>
            <a:pPr algn="l">
              <a:lnSpc>
                <a:spcPts val="3779"/>
              </a:lnSpc>
              <a:spcBef>
                <a:spcPct val="0"/>
              </a:spcBef>
            </a:pPr>
            <a:r>
              <a:rPr lang="en-US" sz="2699">
                <a:solidFill>
                  <a:srgbClr val="000000"/>
                </a:solidFill>
                <a:latin typeface="Canva Sans"/>
                <a:ea typeface="Canva Sans"/>
                <a:cs typeface="Canva Sans"/>
                <a:sym typeface="Canva Sans"/>
              </a:rPr>
              <a:t>The Wareh</a:t>
            </a:r>
            <a:r>
              <a:rPr lang="en-US" sz="2699">
                <a:solidFill>
                  <a:srgbClr val="000000"/>
                </a:solidFill>
                <a:latin typeface="Canva Sans"/>
                <a:ea typeface="Canva Sans"/>
                <a:cs typeface="Canva Sans"/>
                <a:sym typeface="Canva Sans"/>
              </a:rPr>
              <a:t>ouse Slotting Optimizer is a system that helps organize products in a warehouse to make order picking faster and more efficient. In many warehouses, workers spend a lot of time walking to collect items for customer orders. This project analyses past order history to find products that are often picked together. These related products are then placed in nearby storage locations to reduce travel distance. The system first cleans the product and order data, then identifies common co-pick patterns using data mining techniques. Based on these patterns, it recommends the best storage slots for each product. By placing frequently ordered items closer together, the system improves picking speed, saves time, and reduces worker effort. This project is useful for warehouses, supermarkets, and e-commerce companies that want to improve their storage layout, increase productivity, reduce operational costs, and provide faster order delivery to customers.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A7D51"/>
        </a:solidFill>
      </p:bgPr>
    </p:bg>
    <p:spTree>
      <p:nvGrpSpPr>
        <p:cNvPr id="1" name=""/>
        <p:cNvGrpSpPr/>
        <p:nvPr/>
      </p:nvGrpSpPr>
      <p:grpSpPr>
        <a:xfrm>
          <a:off x="0" y="0"/>
          <a:ext cx="0" cy="0"/>
          <a:chOff x="0" y="0"/>
          <a:chExt cx="0" cy="0"/>
        </a:xfrm>
      </p:grpSpPr>
      <p:sp>
        <p:nvSpPr>
          <p:cNvPr name="Freeform 2" id="2"/>
          <p:cNvSpPr/>
          <p:nvPr/>
        </p:nvSpPr>
        <p:spPr>
          <a:xfrm flipH="false" flipV="false" rot="0">
            <a:off x="16130475" y="8974448"/>
            <a:ext cx="8883349" cy="7639680"/>
          </a:xfrm>
          <a:custGeom>
            <a:avLst/>
            <a:gdLst/>
            <a:ahLst/>
            <a:cxnLst/>
            <a:rect r="r" b="b" t="t" l="l"/>
            <a:pathLst>
              <a:path h="7639680" w="8883349">
                <a:moveTo>
                  <a:pt x="0" y="0"/>
                </a:moveTo>
                <a:lnTo>
                  <a:pt x="8883349" y="0"/>
                </a:lnTo>
                <a:lnTo>
                  <a:pt x="8883349" y="7639680"/>
                </a:lnTo>
                <a:lnTo>
                  <a:pt x="0" y="7639680"/>
                </a:lnTo>
                <a:lnTo>
                  <a:pt x="0" y="0"/>
                </a:lnTo>
                <a:close/>
              </a:path>
            </a:pathLst>
          </a:custGeom>
          <a:blipFill>
            <a:blip r:embed="rId2"/>
            <a:stretch>
              <a:fillRect l="0" t="0" r="0" b="0"/>
            </a:stretch>
          </a:blipFill>
        </p:spPr>
      </p:sp>
      <p:grpSp>
        <p:nvGrpSpPr>
          <p:cNvPr name="Group 3" id="3"/>
          <p:cNvGrpSpPr/>
          <p:nvPr/>
        </p:nvGrpSpPr>
        <p:grpSpPr>
          <a:xfrm rot="0">
            <a:off x="16349641" y="9258300"/>
            <a:ext cx="909659" cy="1487543"/>
            <a:chOff x="0" y="0"/>
            <a:chExt cx="239581" cy="391781"/>
          </a:xfrm>
        </p:grpSpPr>
        <p:sp>
          <p:nvSpPr>
            <p:cNvPr name="Freeform 4" id="4"/>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FAF2E8"/>
            </a:solidFill>
          </p:spPr>
        </p:sp>
        <p:sp>
          <p:nvSpPr>
            <p:cNvPr name="TextBox 5" id="5"/>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2550505" y="7650121"/>
            <a:ext cx="5896656" cy="3216358"/>
          </a:xfrm>
          <a:custGeom>
            <a:avLst/>
            <a:gdLst/>
            <a:ahLst/>
            <a:cxnLst/>
            <a:rect r="r" b="b" t="t" l="l"/>
            <a:pathLst>
              <a:path h="3216358" w="5896656">
                <a:moveTo>
                  <a:pt x="0" y="0"/>
                </a:moveTo>
                <a:lnTo>
                  <a:pt x="5896656" y="0"/>
                </a:lnTo>
                <a:lnTo>
                  <a:pt x="5896656" y="3216358"/>
                </a:lnTo>
                <a:lnTo>
                  <a:pt x="0" y="32163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591746" y="718144"/>
            <a:ext cx="2449003" cy="1077561"/>
          </a:xfrm>
          <a:custGeom>
            <a:avLst/>
            <a:gdLst/>
            <a:ahLst/>
            <a:cxnLst/>
            <a:rect r="r" b="b" t="t" l="l"/>
            <a:pathLst>
              <a:path h="1077561" w="2449003">
                <a:moveTo>
                  <a:pt x="0" y="0"/>
                </a:moveTo>
                <a:lnTo>
                  <a:pt x="2449003" y="0"/>
                </a:lnTo>
                <a:lnTo>
                  <a:pt x="2449003" y="1077562"/>
                </a:lnTo>
                <a:lnTo>
                  <a:pt x="0" y="10775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40041" y="-42060"/>
            <a:ext cx="1281018" cy="2141519"/>
          </a:xfrm>
          <a:custGeom>
            <a:avLst/>
            <a:gdLst/>
            <a:ahLst/>
            <a:cxnLst/>
            <a:rect r="r" b="b" t="t" l="l"/>
            <a:pathLst>
              <a:path h="2141519" w="1281018">
                <a:moveTo>
                  <a:pt x="0" y="0"/>
                </a:moveTo>
                <a:lnTo>
                  <a:pt x="1281017" y="0"/>
                </a:lnTo>
                <a:lnTo>
                  <a:pt x="1281017" y="2141520"/>
                </a:lnTo>
                <a:lnTo>
                  <a:pt x="0" y="21415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9" id="9"/>
          <p:cNvSpPr/>
          <p:nvPr/>
        </p:nvSpPr>
        <p:spPr>
          <a:xfrm flipH="false" flipV="false" rot="0">
            <a:off x="12243935" y="8431166"/>
            <a:ext cx="4043766" cy="1654268"/>
          </a:xfrm>
          <a:custGeom>
            <a:avLst/>
            <a:gdLst/>
            <a:ahLst/>
            <a:cxnLst/>
            <a:rect r="r" b="b" t="t" l="l"/>
            <a:pathLst>
              <a:path h="1654268" w="4043766">
                <a:moveTo>
                  <a:pt x="0" y="0"/>
                </a:moveTo>
                <a:lnTo>
                  <a:pt x="4043767" y="0"/>
                </a:lnTo>
                <a:lnTo>
                  <a:pt x="4043767" y="1654268"/>
                </a:lnTo>
                <a:lnTo>
                  <a:pt x="0" y="16542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10" id="10"/>
          <p:cNvSpPr txBox="true"/>
          <p:nvPr/>
        </p:nvSpPr>
        <p:spPr>
          <a:xfrm rot="0">
            <a:off x="7281156" y="895350"/>
            <a:ext cx="5599611" cy="1161977"/>
          </a:xfrm>
          <a:prstGeom prst="rect">
            <a:avLst/>
          </a:prstGeom>
        </p:spPr>
        <p:txBody>
          <a:bodyPr anchor="t" rtlCol="false" tIns="0" lIns="0" bIns="0" rIns="0">
            <a:spAutoFit/>
          </a:bodyPr>
          <a:lstStyle/>
          <a:p>
            <a:pPr algn="l">
              <a:lnSpc>
                <a:spcPts val="9454"/>
              </a:lnSpc>
            </a:pPr>
            <a:r>
              <a:rPr lang="en-US" sz="6752" b="true">
                <a:solidFill>
                  <a:srgbClr val="FFFFFF"/>
                </a:solidFill>
                <a:latin typeface="Be Vietnam Ultra-Bold"/>
                <a:ea typeface="Be Vietnam Ultra-Bold"/>
                <a:cs typeface="Be Vietnam Ultra-Bold"/>
                <a:sym typeface="Be Vietnam Ultra-Bold"/>
              </a:rPr>
              <a:t>Introduction</a:t>
            </a:r>
          </a:p>
        </p:txBody>
      </p:sp>
      <p:sp>
        <p:nvSpPr>
          <p:cNvPr name="TextBox 11" id="11"/>
          <p:cNvSpPr txBox="true"/>
          <p:nvPr/>
        </p:nvSpPr>
        <p:spPr>
          <a:xfrm rot="0">
            <a:off x="2121175" y="2417894"/>
            <a:ext cx="15919574" cy="6556554"/>
          </a:xfrm>
          <a:prstGeom prst="rect">
            <a:avLst/>
          </a:prstGeom>
        </p:spPr>
        <p:txBody>
          <a:bodyPr anchor="t" rtlCol="false" tIns="0" lIns="0" bIns="0" rIns="0">
            <a:spAutoFit/>
          </a:bodyPr>
          <a:lstStyle/>
          <a:p>
            <a:pPr algn="just">
              <a:lnSpc>
                <a:spcPts val="3490"/>
              </a:lnSpc>
            </a:pPr>
            <a:r>
              <a:rPr lang="en-US" sz="2492">
                <a:solidFill>
                  <a:srgbClr val="000000"/>
                </a:solidFill>
                <a:latin typeface="Be Vietnam"/>
                <a:ea typeface="Be Vietnam"/>
                <a:cs typeface="Be Vietnam"/>
                <a:sym typeface="Be Vietnam"/>
              </a:rPr>
              <a:t>Warehouse slotting is the process of deciding where products should be placed inside a warehouse. Proper product placement helps workers find and collect products faster.</a:t>
            </a:r>
          </a:p>
          <a:p>
            <a:pPr algn="just">
              <a:lnSpc>
                <a:spcPts val="3490"/>
              </a:lnSpc>
            </a:pPr>
            <a:r>
              <a:rPr lang="en-US" sz="2492">
                <a:solidFill>
                  <a:srgbClr val="000000"/>
                </a:solidFill>
                <a:latin typeface="Be Vietnam"/>
                <a:ea typeface="Be Vietnam"/>
                <a:cs typeface="Be Vietnam"/>
                <a:sym typeface="Be Vietnam"/>
              </a:rPr>
              <a:t>In a warehouse, high-demand products are picked more frequently. If these products are stored far from the dispatch area, workers have to travel longer distances, which increases picking time and operational effort.</a:t>
            </a:r>
          </a:p>
          <a:p>
            <a:pPr algn="just">
              <a:lnSpc>
                <a:spcPts val="3490"/>
              </a:lnSpc>
            </a:pPr>
            <a:r>
              <a:rPr lang="en-US" sz="2492">
                <a:solidFill>
                  <a:srgbClr val="000000"/>
                </a:solidFill>
                <a:latin typeface="Be Vietnam"/>
                <a:ea typeface="Be Vietnam"/>
                <a:cs typeface="Be Vietnam"/>
                <a:sym typeface="Be Vietnam"/>
              </a:rPr>
              <a:t>Our project, Warehouse Slotting Optimizer, uses Java and Data Structures &amp; Algorithms (DSA) to improve product placement. The system analyzes product demand and assigns frequently picked products to more accessible slots.</a:t>
            </a:r>
          </a:p>
          <a:p>
            <a:pPr algn="just">
              <a:lnSpc>
                <a:spcPts val="3490"/>
              </a:lnSpc>
              <a:spcBef>
                <a:spcPct val="0"/>
              </a:spcBef>
            </a:pPr>
            <a:r>
              <a:rPr lang="en-US" sz="2492">
                <a:solidFill>
                  <a:srgbClr val="000000"/>
                </a:solidFill>
                <a:latin typeface="Be Vietnam"/>
                <a:ea typeface="Be Vietnam"/>
                <a:cs typeface="Be Vietnam"/>
                <a:sym typeface="Be Vietnam"/>
              </a:rPr>
              <a:t>The project uses concepts such as ArrayList, HashMap, Pri</a:t>
            </a:r>
            <a:r>
              <a:rPr lang="en-US" sz="2492">
                <a:solidFill>
                  <a:srgbClr val="000000"/>
                </a:solidFill>
                <a:latin typeface="Be Vietnam"/>
                <a:ea typeface="Be Vietnam"/>
                <a:cs typeface="Be Vietnam"/>
                <a:sym typeface="Be Vietnam"/>
              </a:rPr>
              <a:t>orityQueue, sorting, searching, and greedy algorithms to organize products and warehouse slots efficiently.</a:t>
            </a:r>
          </a:p>
          <a:p>
            <a:pPr algn="just">
              <a:lnSpc>
                <a:spcPts val="3490"/>
              </a:lnSpc>
              <a:spcBef>
                <a:spcPct val="0"/>
              </a:spcBef>
            </a:pPr>
          </a:p>
          <a:p>
            <a:pPr algn="just">
              <a:lnSpc>
                <a:spcPts val="3490"/>
              </a:lnSpc>
              <a:spcBef>
                <a:spcPct val="0"/>
              </a:spcBef>
            </a:pPr>
            <a:r>
              <a:rPr lang="en-US" b="true" sz="2492">
                <a:solidFill>
                  <a:srgbClr val="000000"/>
                </a:solidFill>
                <a:latin typeface="Be Vietnam Ultra-Bold"/>
                <a:ea typeface="Be Vietnam Ultra-Bold"/>
                <a:cs typeface="Be Vietnam Ultra-Bold"/>
                <a:sym typeface="Be Vietnam Ultra-Bold"/>
              </a:rPr>
              <a:t>Main Goal</a:t>
            </a:r>
          </a:p>
          <a:p>
            <a:pPr algn="just">
              <a:lnSpc>
                <a:spcPts val="3490"/>
              </a:lnSpc>
              <a:spcBef>
                <a:spcPct val="0"/>
              </a:spcBef>
            </a:pPr>
            <a:r>
              <a:rPr lang="en-US" sz="2492">
                <a:solidFill>
                  <a:srgbClr val="000000"/>
                </a:solidFill>
                <a:latin typeface="Be Vietnam"/>
                <a:ea typeface="Be Vietnam"/>
                <a:cs typeface="Be Vietnam"/>
                <a:sym typeface="Be Vietnam"/>
              </a:rPr>
              <a:t>To reduce product picking time and travel distance by placing high-demand products in better warehouse locations.</a:t>
            </a:r>
          </a:p>
          <a:p>
            <a:pPr algn="just">
              <a:lnSpc>
                <a:spcPts val="3490"/>
              </a:lnSpc>
              <a:spcBef>
                <a:spcPct val="0"/>
              </a:spcBef>
            </a:pPr>
          </a:p>
        </p:txBody>
      </p:sp>
      <p:sp>
        <p:nvSpPr>
          <p:cNvPr name="TextBox 12" id="12"/>
          <p:cNvSpPr txBox="true"/>
          <p:nvPr/>
        </p:nvSpPr>
        <p:spPr>
          <a:xfrm rot="0">
            <a:off x="16287702" y="9393452"/>
            <a:ext cx="1033538" cy="606234"/>
          </a:xfrm>
          <a:prstGeom prst="rect">
            <a:avLst/>
          </a:prstGeom>
        </p:spPr>
        <p:txBody>
          <a:bodyPr anchor="t" rtlCol="false" tIns="0" lIns="0" bIns="0" rIns="0">
            <a:spAutoFit/>
          </a:bodyPr>
          <a:lstStyle/>
          <a:p>
            <a:pPr algn="ctr">
              <a:lnSpc>
                <a:spcPts val="4910"/>
              </a:lnSpc>
            </a:pPr>
            <a:r>
              <a:rPr lang="en-US" sz="3507" b="true">
                <a:solidFill>
                  <a:srgbClr val="C26337"/>
                </a:solidFill>
                <a:latin typeface="Be Vietnam Ultra-Bold"/>
                <a:ea typeface="Be Vietnam Ultra-Bold"/>
                <a:cs typeface="Be Vietnam Ultra-Bold"/>
                <a:sym typeface="Be Vietnam Ultra-Bold"/>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sp>
        <p:nvSpPr>
          <p:cNvPr name="Freeform 2" id="2"/>
          <p:cNvSpPr/>
          <p:nvPr/>
        </p:nvSpPr>
        <p:spPr>
          <a:xfrm flipH="true" flipV="false" rot="0">
            <a:off x="-1187798" y="3280714"/>
            <a:ext cx="7428839" cy="7172206"/>
          </a:xfrm>
          <a:custGeom>
            <a:avLst/>
            <a:gdLst/>
            <a:ahLst/>
            <a:cxnLst/>
            <a:rect r="r" b="b" t="t" l="l"/>
            <a:pathLst>
              <a:path h="7172206" w="7428839">
                <a:moveTo>
                  <a:pt x="7428839" y="0"/>
                </a:moveTo>
                <a:lnTo>
                  <a:pt x="0" y="0"/>
                </a:lnTo>
                <a:lnTo>
                  <a:pt x="0" y="7172207"/>
                </a:lnTo>
                <a:lnTo>
                  <a:pt x="7428839" y="7172207"/>
                </a:lnTo>
                <a:lnTo>
                  <a:pt x="7428839" y="0"/>
                </a:lnTo>
                <a:close/>
              </a:path>
            </a:pathLst>
          </a:custGeom>
          <a:blipFill>
            <a:blip r:embed="rId2"/>
            <a:stretch>
              <a:fillRect l="0" t="0" r="0" b="0"/>
            </a:stretch>
          </a:blipFill>
        </p:spPr>
      </p:sp>
      <p:sp>
        <p:nvSpPr>
          <p:cNvPr name="TextBox 3" id="3"/>
          <p:cNvSpPr txBox="true"/>
          <p:nvPr/>
        </p:nvSpPr>
        <p:spPr>
          <a:xfrm rot="0">
            <a:off x="7981929" y="1003348"/>
            <a:ext cx="9541798" cy="862256"/>
          </a:xfrm>
          <a:prstGeom prst="rect">
            <a:avLst/>
          </a:prstGeom>
        </p:spPr>
        <p:txBody>
          <a:bodyPr anchor="t" rtlCol="false" tIns="0" lIns="0" bIns="0" rIns="0">
            <a:spAutoFit/>
          </a:bodyPr>
          <a:lstStyle/>
          <a:p>
            <a:pPr algn="l">
              <a:lnSpc>
                <a:spcPts val="7074"/>
              </a:lnSpc>
            </a:pPr>
            <a:r>
              <a:rPr lang="en-US" sz="5052" b="true">
                <a:solidFill>
                  <a:srgbClr val="C26337"/>
                </a:solidFill>
                <a:latin typeface="Be Vietnam Ultra-Bold"/>
                <a:ea typeface="Be Vietnam Ultra-Bold"/>
                <a:cs typeface="Be Vietnam Ultra-Bold"/>
                <a:sym typeface="Be Vietnam Ultra-Bold"/>
              </a:rPr>
              <a:t>Literature S</a:t>
            </a:r>
            <a:r>
              <a:rPr lang="en-US" sz="5052" b="true">
                <a:solidFill>
                  <a:srgbClr val="C26337"/>
                </a:solidFill>
                <a:latin typeface="Be Vietnam Ultra-Bold"/>
                <a:ea typeface="Be Vietnam Ultra-Bold"/>
                <a:cs typeface="Be Vietnam Ultra-Bold"/>
                <a:sym typeface="Be Vietnam Ultra-Bold"/>
              </a:rPr>
              <a:t>urvey </a:t>
            </a:r>
          </a:p>
        </p:txBody>
      </p:sp>
      <p:grpSp>
        <p:nvGrpSpPr>
          <p:cNvPr name="Group 4" id="4"/>
          <p:cNvGrpSpPr/>
          <p:nvPr/>
        </p:nvGrpSpPr>
        <p:grpSpPr>
          <a:xfrm rot="0">
            <a:off x="16349641" y="9258300"/>
            <a:ext cx="909659" cy="1487543"/>
            <a:chOff x="0" y="0"/>
            <a:chExt cx="239581" cy="391781"/>
          </a:xfrm>
        </p:grpSpPr>
        <p:sp>
          <p:nvSpPr>
            <p:cNvPr name="Freeform 5" id="5"/>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DA7D51"/>
            </a:solidFill>
          </p:spPr>
        </p:sp>
        <p:sp>
          <p:nvSpPr>
            <p:cNvPr name="TextBox 6" id="6"/>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Freeform 7" id="7"/>
          <p:cNvSpPr/>
          <p:nvPr/>
        </p:nvSpPr>
        <p:spPr>
          <a:xfrm flipH="false" flipV="false" rot="0">
            <a:off x="1171347" y="645197"/>
            <a:ext cx="2710550" cy="906802"/>
          </a:xfrm>
          <a:custGeom>
            <a:avLst/>
            <a:gdLst/>
            <a:ahLst/>
            <a:cxnLst/>
            <a:rect r="r" b="b" t="t" l="l"/>
            <a:pathLst>
              <a:path h="906802" w="2710550">
                <a:moveTo>
                  <a:pt x="0" y="0"/>
                </a:moveTo>
                <a:lnTo>
                  <a:pt x="2710550" y="0"/>
                </a:lnTo>
                <a:lnTo>
                  <a:pt x="2710550" y="906802"/>
                </a:lnTo>
                <a:lnTo>
                  <a:pt x="0" y="9068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0">
            <a:off x="16349641" y="413893"/>
            <a:ext cx="1438514" cy="1451711"/>
          </a:xfrm>
          <a:custGeom>
            <a:avLst/>
            <a:gdLst/>
            <a:ahLst/>
            <a:cxnLst/>
            <a:rect r="r" b="b" t="t" l="l"/>
            <a:pathLst>
              <a:path h="1451711" w="1438514">
                <a:moveTo>
                  <a:pt x="0" y="0"/>
                </a:moveTo>
                <a:lnTo>
                  <a:pt x="1438514" y="0"/>
                </a:lnTo>
                <a:lnTo>
                  <a:pt x="1438514" y="1451711"/>
                </a:lnTo>
                <a:lnTo>
                  <a:pt x="0" y="14517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9" id="9"/>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FFFFFF"/>
                </a:solidFill>
                <a:latin typeface="Be Vietnam Ultra-Bold"/>
                <a:ea typeface="Be Vietnam Ultra-Bold"/>
                <a:cs typeface="Be Vietnam Ultra-Bold"/>
                <a:sym typeface="Be Vietnam Ultra-Bold"/>
              </a:rPr>
              <a:t>04</a:t>
            </a:r>
          </a:p>
        </p:txBody>
      </p:sp>
      <p:sp>
        <p:nvSpPr>
          <p:cNvPr name="TextBox 10" id="10"/>
          <p:cNvSpPr txBox="true"/>
          <p:nvPr/>
        </p:nvSpPr>
        <p:spPr>
          <a:xfrm rot="0">
            <a:off x="5662918" y="3055873"/>
            <a:ext cx="12625082" cy="5059045"/>
          </a:xfrm>
          <a:prstGeom prst="rect">
            <a:avLst/>
          </a:prstGeom>
        </p:spPr>
        <p:txBody>
          <a:bodyPr anchor="t" rtlCol="false" tIns="0" lIns="0" bIns="0" rIns="0">
            <a:spAutoFit/>
          </a:bodyPr>
          <a:lstStyle/>
          <a:p>
            <a:pPr algn="l">
              <a:lnSpc>
                <a:spcPts val="3079"/>
              </a:lnSpc>
            </a:pPr>
            <a:r>
              <a:rPr lang="en-US" sz="2199" b="true">
                <a:solidFill>
                  <a:srgbClr val="000000"/>
                </a:solidFill>
                <a:latin typeface="Be Vietnam Ultra-Bold"/>
                <a:ea typeface="Be Vietnam Ultra-Bold"/>
                <a:cs typeface="Be Vietnam Ultra-Bold"/>
                <a:sym typeface="Be Vietnam Ultra-Bold"/>
              </a:rPr>
              <a:t>Study 1 — Order Picking and Storage Assignment</a:t>
            </a:r>
          </a:p>
          <a:p>
            <a:pPr algn="l">
              <a:lnSpc>
                <a:spcPts val="3079"/>
              </a:lnSpc>
            </a:pPr>
            <a:r>
              <a:rPr lang="en-US" sz="2199">
                <a:solidFill>
                  <a:srgbClr val="000000"/>
                </a:solidFill>
                <a:latin typeface="Be Vietnam"/>
                <a:ea typeface="Be Vietnam"/>
                <a:cs typeface="Be Vietnam"/>
                <a:sym typeface="Be Vietnam"/>
              </a:rPr>
              <a:t>Research by de Koster, Le-Duc and Roodbergen reviewed warehouse order-picking systems and identified storage assignment, routing, zoning, batching, and layout as important optimization areas. </a:t>
            </a:r>
          </a:p>
          <a:p>
            <a:pPr algn="l">
              <a:lnSpc>
                <a:spcPts val="3079"/>
              </a:lnSpc>
            </a:pPr>
            <a:r>
              <a:rPr lang="en-US" sz="2199">
                <a:solidFill>
                  <a:srgbClr val="000000"/>
                </a:solidFill>
                <a:latin typeface="Be Vietnam"/>
                <a:ea typeface="Be Vietnam"/>
                <a:cs typeface="Be Vietnam"/>
                <a:sym typeface="Be Vietnam"/>
              </a:rPr>
              <a:t>Relevance to our project:</a:t>
            </a:r>
          </a:p>
          <a:p>
            <a:pPr algn="l">
              <a:lnSpc>
                <a:spcPts val="3079"/>
              </a:lnSpc>
            </a:pPr>
            <a:r>
              <a:rPr lang="en-US" sz="2199">
                <a:solidFill>
                  <a:srgbClr val="000000"/>
                </a:solidFill>
                <a:latin typeface="Be Vietnam"/>
                <a:ea typeface="Be Vietnam"/>
                <a:cs typeface="Be Vietnam"/>
                <a:sym typeface="Be Vietnam"/>
              </a:rPr>
              <a:t> Our system focuses specifically on storage assignment/slotting to reduce picking effort.</a:t>
            </a:r>
          </a:p>
          <a:p>
            <a:pPr algn="l">
              <a:lnSpc>
                <a:spcPts val="3079"/>
              </a:lnSpc>
              <a:spcBef>
                <a:spcPct val="0"/>
              </a:spcBef>
            </a:pPr>
            <a:r>
              <a:rPr lang="en-US" b="true" sz="2199">
                <a:solidFill>
                  <a:srgbClr val="000000"/>
                </a:solidFill>
                <a:latin typeface="Be Vietnam Ultra-Bold"/>
                <a:ea typeface="Be Vietnam Ultra-Bold"/>
                <a:cs typeface="Be Vietnam Ultra-Bold"/>
                <a:sym typeface="Be Vietnam Ultra-Bold"/>
              </a:rPr>
              <a:t>Study 2 — Class-Based St</a:t>
            </a:r>
            <a:r>
              <a:rPr lang="en-US" b="true" sz="2199">
                <a:solidFill>
                  <a:srgbClr val="000000"/>
                </a:solidFill>
                <a:latin typeface="Be Vietnam Ultra-Bold"/>
                <a:ea typeface="Be Vietnam Ultra-Bold"/>
                <a:cs typeface="Be Vietnam Ultra-Bold"/>
                <a:sym typeface="Be Vietnam Ultra-Bold"/>
              </a:rPr>
              <a:t>orage</a:t>
            </a:r>
          </a:p>
          <a:p>
            <a:pPr algn="l">
              <a:lnSpc>
                <a:spcPts val="3079"/>
              </a:lnSpc>
              <a:spcBef>
                <a:spcPct val="0"/>
              </a:spcBef>
            </a:pPr>
            <a:r>
              <a:rPr lang="en-US" sz="2199">
                <a:solidFill>
                  <a:srgbClr val="000000"/>
                </a:solidFill>
                <a:latin typeface="Be Vietnam"/>
                <a:ea typeface="Be Vietnam"/>
                <a:cs typeface="Be Vietnam"/>
                <a:sym typeface="Be Vietnam"/>
              </a:rPr>
              <a:t>Chan and Chan studied class-based storage and found that appropriate storage assignment can improve order retrieval time and travel distance. Their work considered factors such as demand trends, turnover rate, product characteristics and warehouse layout. </a:t>
            </a:r>
          </a:p>
          <a:p>
            <a:pPr algn="l">
              <a:lnSpc>
                <a:spcPts val="3079"/>
              </a:lnSpc>
              <a:spcBef>
                <a:spcPct val="0"/>
              </a:spcBef>
            </a:pPr>
            <a:r>
              <a:rPr lang="en-US" b="true" sz="2199">
                <a:solidFill>
                  <a:srgbClr val="000000"/>
                </a:solidFill>
                <a:latin typeface="Be Vietnam Ultra-Bold"/>
                <a:ea typeface="Be Vietnam Ultra-Bold"/>
                <a:cs typeface="Be Vietnam Ultra-Bold"/>
                <a:sym typeface="Be Vietnam Ultra-Bold"/>
              </a:rPr>
              <a:t>Relevance:</a:t>
            </a:r>
          </a:p>
          <a:p>
            <a:pPr algn="l">
              <a:lnSpc>
                <a:spcPts val="3079"/>
              </a:lnSpc>
              <a:spcBef>
                <a:spcPct val="0"/>
              </a:spcBef>
            </a:pPr>
            <a:r>
              <a:rPr lang="en-US" sz="2199">
                <a:solidFill>
                  <a:srgbClr val="000000"/>
                </a:solidFill>
                <a:latin typeface="Be Vietnam"/>
                <a:ea typeface="Be Vietnam"/>
                <a:cs typeface="Be Vietnam"/>
                <a:sym typeface="Be Vietnam"/>
              </a:rPr>
              <a:t> Our project uses product demand/frequency to prioritize storage locations.</a:t>
            </a:r>
          </a:p>
          <a:p>
            <a:pPr algn="l">
              <a:lnSpc>
                <a:spcPts val="307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A7D51"/>
        </a:solidFill>
      </p:bgPr>
    </p:bg>
    <p:spTree>
      <p:nvGrpSpPr>
        <p:cNvPr id="1" name=""/>
        <p:cNvGrpSpPr/>
        <p:nvPr/>
      </p:nvGrpSpPr>
      <p:grpSpPr>
        <a:xfrm>
          <a:off x="0" y="0"/>
          <a:ext cx="0" cy="0"/>
          <a:chOff x="0" y="0"/>
          <a:chExt cx="0" cy="0"/>
        </a:xfrm>
      </p:grpSpPr>
      <p:sp>
        <p:nvSpPr>
          <p:cNvPr name="Freeform 2" id="2"/>
          <p:cNvSpPr/>
          <p:nvPr/>
        </p:nvSpPr>
        <p:spPr>
          <a:xfrm flipH="false" flipV="false" rot="0">
            <a:off x="11886409" y="1817539"/>
            <a:ext cx="6250239" cy="7440761"/>
          </a:xfrm>
          <a:custGeom>
            <a:avLst/>
            <a:gdLst/>
            <a:ahLst/>
            <a:cxnLst/>
            <a:rect r="r" b="b" t="t" l="l"/>
            <a:pathLst>
              <a:path h="7440761" w="6250239">
                <a:moveTo>
                  <a:pt x="0" y="0"/>
                </a:moveTo>
                <a:lnTo>
                  <a:pt x="6250239" y="0"/>
                </a:lnTo>
                <a:lnTo>
                  <a:pt x="6250239" y="7440761"/>
                </a:lnTo>
                <a:lnTo>
                  <a:pt x="0" y="7440761"/>
                </a:lnTo>
                <a:lnTo>
                  <a:pt x="0" y="0"/>
                </a:lnTo>
                <a:close/>
              </a:path>
            </a:pathLst>
          </a:custGeom>
          <a:blipFill>
            <a:blip r:embed="rId2"/>
            <a:stretch>
              <a:fillRect l="0" t="0" r="0" b="0"/>
            </a:stretch>
          </a:blipFill>
        </p:spPr>
      </p:sp>
      <p:grpSp>
        <p:nvGrpSpPr>
          <p:cNvPr name="Group 3" id="3"/>
          <p:cNvGrpSpPr/>
          <p:nvPr/>
        </p:nvGrpSpPr>
        <p:grpSpPr>
          <a:xfrm rot="0">
            <a:off x="16349641" y="9258300"/>
            <a:ext cx="909659" cy="1487543"/>
            <a:chOff x="0" y="0"/>
            <a:chExt cx="239581" cy="391781"/>
          </a:xfrm>
        </p:grpSpPr>
        <p:sp>
          <p:nvSpPr>
            <p:cNvPr name="Freeform 4" id="4"/>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FAF2E8"/>
            </a:solidFill>
          </p:spPr>
        </p:sp>
        <p:sp>
          <p:nvSpPr>
            <p:cNvPr name="TextBox 5" id="5"/>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592294" y="8135637"/>
            <a:ext cx="1321887" cy="1334015"/>
          </a:xfrm>
          <a:custGeom>
            <a:avLst/>
            <a:gdLst/>
            <a:ahLst/>
            <a:cxnLst/>
            <a:rect r="r" b="b" t="t" l="l"/>
            <a:pathLst>
              <a:path h="1334015" w="1321887">
                <a:moveTo>
                  <a:pt x="0" y="0"/>
                </a:moveTo>
                <a:lnTo>
                  <a:pt x="1321887" y="0"/>
                </a:lnTo>
                <a:lnTo>
                  <a:pt x="1321887" y="1334015"/>
                </a:lnTo>
                <a:lnTo>
                  <a:pt x="0" y="13340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6349641" y="1672041"/>
            <a:ext cx="1321887" cy="1334015"/>
          </a:xfrm>
          <a:custGeom>
            <a:avLst/>
            <a:gdLst/>
            <a:ahLst/>
            <a:cxnLst/>
            <a:rect r="r" b="b" t="t" l="l"/>
            <a:pathLst>
              <a:path h="1334015" w="1321887">
                <a:moveTo>
                  <a:pt x="0" y="0"/>
                </a:moveTo>
                <a:lnTo>
                  <a:pt x="1321888" y="0"/>
                </a:lnTo>
                <a:lnTo>
                  <a:pt x="1321888" y="1334015"/>
                </a:lnTo>
                <a:lnTo>
                  <a:pt x="0" y="13340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0">
            <a:off x="11690034" y="5037867"/>
            <a:ext cx="2272964" cy="1000104"/>
          </a:xfrm>
          <a:custGeom>
            <a:avLst/>
            <a:gdLst/>
            <a:ahLst/>
            <a:cxnLst/>
            <a:rect r="r" b="b" t="t" l="l"/>
            <a:pathLst>
              <a:path h="1000104" w="2272964">
                <a:moveTo>
                  <a:pt x="0" y="0"/>
                </a:moveTo>
                <a:lnTo>
                  <a:pt x="2272965" y="0"/>
                </a:lnTo>
                <a:lnTo>
                  <a:pt x="2272965" y="1000105"/>
                </a:lnTo>
                <a:lnTo>
                  <a:pt x="0" y="10001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C26337"/>
                </a:solidFill>
                <a:latin typeface="Be Vietnam Ultra-Bold"/>
                <a:ea typeface="Be Vietnam Ultra-Bold"/>
                <a:cs typeface="Be Vietnam Ultra-Bold"/>
                <a:sym typeface="Be Vietnam Ultra-Bold"/>
              </a:rPr>
              <a:t>05</a:t>
            </a:r>
          </a:p>
        </p:txBody>
      </p:sp>
      <p:sp>
        <p:nvSpPr>
          <p:cNvPr name="TextBox 10" id="10"/>
          <p:cNvSpPr txBox="true"/>
          <p:nvPr/>
        </p:nvSpPr>
        <p:spPr>
          <a:xfrm rot="0">
            <a:off x="401604" y="614225"/>
            <a:ext cx="16608980" cy="1203313"/>
          </a:xfrm>
          <a:prstGeom prst="rect">
            <a:avLst/>
          </a:prstGeom>
        </p:spPr>
        <p:txBody>
          <a:bodyPr anchor="t" rtlCol="false" tIns="0" lIns="0" bIns="0" rIns="0">
            <a:spAutoFit/>
          </a:bodyPr>
          <a:lstStyle/>
          <a:p>
            <a:pPr algn="ctr">
              <a:lnSpc>
                <a:spcPts val="9800"/>
              </a:lnSpc>
            </a:pPr>
            <a:r>
              <a:rPr lang="en-US" sz="7000" b="true">
                <a:solidFill>
                  <a:srgbClr val="FFFFFF"/>
                </a:solidFill>
                <a:latin typeface="Canva Sans Bold"/>
                <a:ea typeface="Canva Sans Bold"/>
                <a:cs typeface="Canva Sans Bold"/>
                <a:sym typeface="Canva Sans Bold"/>
              </a:rPr>
              <a:t>Software and HardWare Requirements</a:t>
            </a:r>
          </a:p>
        </p:txBody>
      </p:sp>
      <p:sp>
        <p:nvSpPr>
          <p:cNvPr name="TextBox 11" id="11"/>
          <p:cNvSpPr txBox="true"/>
          <p:nvPr/>
        </p:nvSpPr>
        <p:spPr>
          <a:xfrm rot="0">
            <a:off x="1954359" y="1976511"/>
            <a:ext cx="9695498" cy="8075295"/>
          </a:xfrm>
          <a:prstGeom prst="rect">
            <a:avLst/>
          </a:prstGeom>
        </p:spPr>
        <p:txBody>
          <a:bodyPr anchor="t" rtlCol="false" tIns="0" lIns="0" bIns="0" rIns="0">
            <a:spAutoFit/>
          </a:bodyPr>
          <a:lstStyle/>
          <a:p>
            <a:pPr algn="l">
              <a:lnSpc>
                <a:spcPts val="3779"/>
              </a:lnSpc>
            </a:pPr>
            <a:r>
              <a:rPr lang="en-US" b="true" sz="2699">
                <a:solidFill>
                  <a:srgbClr val="000000"/>
                </a:solidFill>
                <a:latin typeface="Be Vietnam Ultra-Bold"/>
                <a:ea typeface="Be Vietnam Ultra-Bold"/>
                <a:cs typeface="Be Vietnam Ultra-Bold"/>
                <a:sym typeface="Be Vietnam Ultra-Bold"/>
              </a:rPr>
              <a:t>S</a:t>
            </a:r>
            <a:r>
              <a:rPr lang="en-US" b="true" sz="2699">
                <a:solidFill>
                  <a:srgbClr val="000000"/>
                </a:solidFill>
                <a:latin typeface="Be Vietnam Ultra-Bold"/>
                <a:ea typeface="Be Vietnam Ultra-Bold"/>
                <a:cs typeface="Be Vietnam Ultra-Bold"/>
                <a:sym typeface="Be Vietnam Ultra-Bold"/>
              </a:rPr>
              <a:t>oftware Requirements</a:t>
            </a:r>
          </a:p>
          <a:p>
            <a:pPr algn="l">
              <a:lnSpc>
                <a:spcPts val="3779"/>
              </a:lnSpc>
            </a:pPr>
            <a:r>
              <a:rPr lang="en-US" sz="2699">
                <a:solidFill>
                  <a:srgbClr val="000000"/>
                </a:solidFill>
                <a:latin typeface="Be Vietnam"/>
                <a:ea typeface="Be Vietnam"/>
                <a:cs typeface="Be Vietnam"/>
                <a:sym typeface="Be Vietnam"/>
              </a:rPr>
              <a:t>Programming Language: Java</a:t>
            </a:r>
          </a:p>
          <a:p>
            <a:pPr algn="l">
              <a:lnSpc>
                <a:spcPts val="3779"/>
              </a:lnSpc>
            </a:pPr>
            <a:r>
              <a:rPr lang="en-US" sz="2699">
                <a:solidFill>
                  <a:srgbClr val="000000"/>
                </a:solidFill>
                <a:latin typeface="Be Vietnam"/>
                <a:ea typeface="Be Vietnam"/>
                <a:cs typeface="Be Vietnam"/>
                <a:sym typeface="Be Vietnam"/>
              </a:rPr>
              <a:t>JDK: JDK 17 or above</a:t>
            </a:r>
          </a:p>
          <a:p>
            <a:pPr algn="l">
              <a:lnSpc>
                <a:spcPts val="3779"/>
              </a:lnSpc>
            </a:pPr>
            <a:r>
              <a:rPr lang="en-US" sz="2699">
                <a:solidFill>
                  <a:srgbClr val="000000"/>
                </a:solidFill>
                <a:latin typeface="Be Vietnam"/>
                <a:ea typeface="Be Vietnam"/>
                <a:cs typeface="Be Vietnam"/>
                <a:sym typeface="Be Vietnam"/>
              </a:rPr>
              <a:t>IDE: VS Code / IntelliJ IDEA / Eclipse</a:t>
            </a:r>
          </a:p>
          <a:p>
            <a:pPr algn="l">
              <a:lnSpc>
                <a:spcPts val="3779"/>
              </a:lnSpc>
            </a:pPr>
            <a:r>
              <a:rPr lang="en-US" sz="2699">
                <a:solidFill>
                  <a:srgbClr val="000000"/>
                </a:solidFill>
                <a:latin typeface="Be Vietnam"/>
                <a:ea typeface="Be Vietnam"/>
                <a:cs typeface="Be Vietnam"/>
                <a:sym typeface="Be Vietnam"/>
              </a:rPr>
              <a:t>Operating System: Windows 10/11 or Linux</a:t>
            </a:r>
          </a:p>
          <a:p>
            <a:pPr algn="l">
              <a:lnSpc>
                <a:spcPts val="3779"/>
              </a:lnSpc>
            </a:pPr>
            <a:r>
              <a:rPr lang="en-US" sz="2699">
                <a:solidFill>
                  <a:srgbClr val="000000"/>
                </a:solidFill>
                <a:latin typeface="Be Vietnam"/>
                <a:ea typeface="Be Vietnam"/>
                <a:cs typeface="Be Vietnam"/>
                <a:sym typeface="Be Vietnam"/>
              </a:rPr>
              <a:t>Data Structures: ArrayList, HashMap, PriorityQueue</a:t>
            </a:r>
          </a:p>
          <a:p>
            <a:pPr algn="l">
              <a:lnSpc>
                <a:spcPts val="3779"/>
              </a:lnSpc>
            </a:pPr>
            <a:r>
              <a:rPr lang="en-US" sz="2699">
                <a:solidFill>
                  <a:srgbClr val="000000"/>
                </a:solidFill>
                <a:latin typeface="Be Vietnam"/>
                <a:ea typeface="Be Vietnam"/>
                <a:cs typeface="Be Vietnam"/>
                <a:sym typeface="Be Vietnam"/>
              </a:rPr>
              <a:t>Algorithms: Sorting, Searching, Greedy Algorithm</a:t>
            </a:r>
          </a:p>
          <a:p>
            <a:pPr algn="l">
              <a:lnSpc>
                <a:spcPts val="3779"/>
              </a:lnSpc>
            </a:pPr>
            <a:r>
              <a:rPr lang="en-US" sz="2699">
                <a:solidFill>
                  <a:srgbClr val="000000"/>
                </a:solidFill>
                <a:latin typeface="Be Vietnam"/>
                <a:ea typeface="Be Vietnam"/>
                <a:cs typeface="Be Vietnam"/>
                <a:sym typeface="Be Vietnam"/>
              </a:rPr>
              <a:t>Database: Not required for the basic version</a:t>
            </a:r>
          </a:p>
          <a:p>
            <a:pPr algn="l">
              <a:lnSpc>
                <a:spcPts val="3779"/>
              </a:lnSpc>
            </a:pPr>
          </a:p>
          <a:p>
            <a:pPr algn="l">
              <a:lnSpc>
                <a:spcPts val="3779"/>
              </a:lnSpc>
            </a:pPr>
            <a:r>
              <a:rPr lang="en-US" b="true" sz="2699">
                <a:solidFill>
                  <a:srgbClr val="000000"/>
                </a:solidFill>
                <a:latin typeface="Be Vietnam Ultra-Bold"/>
                <a:ea typeface="Be Vietnam Ultra-Bold"/>
                <a:cs typeface="Be Vietnam Ultra-Bold"/>
                <a:sym typeface="Be Vietnam Ultra-Bold"/>
              </a:rPr>
              <a:t>Hardware Requirements</a:t>
            </a:r>
          </a:p>
          <a:p>
            <a:pPr algn="l">
              <a:lnSpc>
                <a:spcPts val="3779"/>
              </a:lnSpc>
            </a:pPr>
            <a:r>
              <a:rPr lang="en-US" sz="2699">
                <a:solidFill>
                  <a:srgbClr val="000000"/>
                </a:solidFill>
                <a:latin typeface="Be Vietnam"/>
                <a:ea typeface="Be Vietnam"/>
                <a:cs typeface="Be Vietnam"/>
                <a:sym typeface="Be Vietnam"/>
              </a:rPr>
              <a:t>Processor: Intel Core i3 or equivalent</a:t>
            </a:r>
          </a:p>
          <a:p>
            <a:pPr algn="l">
              <a:lnSpc>
                <a:spcPts val="3779"/>
              </a:lnSpc>
            </a:pPr>
            <a:r>
              <a:rPr lang="en-US" sz="2699">
                <a:solidFill>
                  <a:srgbClr val="000000"/>
                </a:solidFill>
                <a:latin typeface="Be Vietnam"/>
                <a:ea typeface="Be Vietnam"/>
                <a:cs typeface="Be Vietnam"/>
                <a:sym typeface="Be Vietnam"/>
              </a:rPr>
              <a:t>RAM: Minimum 4 GB</a:t>
            </a:r>
          </a:p>
          <a:p>
            <a:pPr algn="l">
              <a:lnSpc>
                <a:spcPts val="3779"/>
              </a:lnSpc>
            </a:pPr>
            <a:r>
              <a:rPr lang="en-US" sz="2699">
                <a:solidFill>
                  <a:srgbClr val="000000"/>
                </a:solidFill>
                <a:latin typeface="Be Vietnam"/>
                <a:ea typeface="Be Vietnam"/>
                <a:cs typeface="Be Vietnam"/>
                <a:sym typeface="Be Vietnam"/>
              </a:rPr>
              <a:t>Storage: Minimum 500 MB free space</a:t>
            </a:r>
          </a:p>
          <a:p>
            <a:pPr algn="l">
              <a:lnSpc>
                <a:spcPts val="3779"/>
              </a:lnSpc>
            </a:pPr>
            <a:r>
              <a:rPr lang="en-US" sz="2699">
                <a:solidFill>
                  <a:srgbClr val="000000"/>
                </a:solidFill>
                <a:latin typeface="Be Vietnam"/>
                <a:ea typeface="Be Vietnam"/>
                <a:cs typeface="Be Vietnam"/>
                <a:sym typeface="Be Vietnam"/>
              </a:rPr>
              <a:t>Display: 1366 × 768 resolution or higher</a:t>
            </a:r>
          </a:p>
          <a:p>
            <a:pPr algn="l">
              <a:lnSpc>
                <a:spcPts val="3779"/>
              </a:lnSpc>
            </a:pPr>
            <a:r>
              <a:rPr lang="en-US" sz="2699">
                <a:solidFill>
                  <a:srgbClr val="000000"/>
                </a:solidFill>
                <a:latin typeface="Be Vietnam"/>
                <a:ea typeface="Be Vietnam"/>
                <a:cs typeface="Be Vietnam"/>
                <a:sym typeface="Be Vietnam"/>
              </a:rPr>
              <a:t>Input: Keyboard and Mouse</a:t>
            </a:r>
          </a:p>
          <a:p>
            <a:pPr algn="l">
              <a:lnSpc>
                <a:spcPts val="3779"/>
              </a:lnSpc>
            </a:pPr>
            <a:r>
              <a:rPr lang="en-US" sz="2699">
                <a:solidFill>
                  <a:srgbClr val="000000"/>
                </a:solidFill>
                <a:latin typeface="Be Vietnam"/>
                <a:ea typeface="Be Vietnam"/>
                <a:cs typeface="Be Vietnam"/>
                <a:sym typeface="Be Vietnam"/>
              </a:rPr>
              <a:t>Internet: Not required for running the basic Java application</a:t>
            </a:r>
          </a:p>
          <a:p>
            <a:pPr algn="l">
              <a:lnSpc>
                <a:spcPts val="377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grpSp>
        <p:nvGrpSpPr>
          <p:cNvPr name="Group 2" id="2"/>
          <p:cNvGrpSpPr/>
          <p:nvPr/>
        </p:nvGrpSpPr>
        <p:grpSpPr>
          <a:xfrm rot="0">
            <a:off x="16349641" y="9258300"/>
            <a:ext cx="909659" cy="1487543"/>
            <a:chOff x="0" y="0"/>
            <a:chExt cx="239581" cy="391781"/>
          </a:xfrm>
        </p:grpSpPr>
        <p:sp>
          <p:nvSpPr>
            <p:cNvPr name="Freeform 3" id="3"/>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DA7D51"/>
            </a:solidFill>
          </p:spPr>
        </p:sp>
        <p:sp>
          <p:nvSpPr>
            <p:cNvPr name="TextBox 4" id="4"/>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1972660"/>
            <a:ext cx="14547029" cy="7763201"/>
          </a:xfrm>
          <a:prstGeom prst="rect">
            <a:avLst/>
          </a:prstGeom>
        </p:spPr>
        <p:txBody>
          <a:bodyPr anchor="t" rtlCol="false" tIns="0" lIns="0" bIns="0" rIns="0">
            <a:spAutoFit/>
          </a:bodyPr>
          <a:lstStyle/>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Data collection: Load sample or user-entered warehouse orders containing product names.</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Data preprocessing: Extract unique product names and</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ca</a:t>
            </a:r>
            <a:r>
              <a:rPr lang="en-US" sz="2612">
                <a:solidFill>
                  <a:srgbClr val="000000"/>
                </a:solidFill>
                <a:latin typeface="Canva Sans"/>
                <a:ea typeface="Canva Sans"/>
                <a:cs typeface="Canva Sans"/>
                <a:sym typeface="Canva Sans"/>
              </a:rPr>
              <a:t>lc</a:t>
            </a:r>
            <a:r>
              <a:rPr lang="en-US" sz="2612">
                <a:solidFill>
                  <a:srgbClr val="000000"/>
                </a:solidFill>
                <a:latin typeface="Canva Sans"/>
                <a:ea typeface="Canva Sans"/>
                <a:cs typeface="Canva Sans"/>
                <a:sym typeface="Canva Sans"/>
              </a:rPr>
              <a:t>ul</a:t>
            </a:r>
            <a:r>
              <a:rPr lang="en-US" sz="2612">
                <a:solidFill>
                  <a:srgbClr val="000000"/>
                </a:solidFill>
                <a:latin typeface="Canva Sans"/>
                <a:ea typeface="Canva Sans"/>
                <a:cs typeface="Canva Sans"/>
                <a:sym typeface="Canva Sans"/>
              </a:rPr>
              <a:t>at</a:t>
            </a:r>
            <a:r>
              <a:rPr lang="en-US" sz="2612">
                <a:solidFill>
                  <a:srgbClr val="000000"/>
                </a:solidFill>
                <a:latin typeface="Canva Sans"/>
                <a:ea typeface="Canva Sans"/>
                <a:cs typeface="Canva Sans"/>
                <a:sym typeface="Canva Sans"/>
              </a:rPr>
              <a:t>e product frequencies</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and c</a:t>
            </a:r>
            <a:r>
              <a:rPr lang="en-US" sz="2612">
                <a:solidFill>
                  <a:srgbClr val="000000"/>
                </a:solidFill>
                <a:latin typeface="Canva Sans"/>
                <a:ea typeface="Canva Sans"/>
                <a:cs typeface="Canva Sans"/>
                <a:sym typeface="Canva Sans"/>
              </a:rPr>
              <a:t>o</a:t>
            </a:r>
            <a:r>
              <a:rPr lang="en-US" sz="2612">
                <a:solidFill>
                  <a:srgbClr val="000000"/>
                </a:solidFill>
                <a:latin typeface="Canva Sans"/>
                <a:ea typeface="Canva Sans"/>
                <a:cs typeface="Canva Sans"/>
                <a:sym typeface="Canva Sans"/>
              </a:rPr>
              <a:t>-occur</a:t>
            </a:r>
            <a:r>
              <a:rPr lang="en-US" sz="2612">
                <a:solidFill>
                  <a:srgbClr val="000000"/>
                </a:solidFill>
                <a:latin typeface="Canva Sans"/>
                <a:ea typeface="Canva Sans"/>
                <a:cs typeface="Canva Sans"/>
                <a:sym typeface="Canva Sans"/>
              </a:rPr>
              <a:t>re</a:t>
            </a:r>
            <a:r>
              <a:rPr lang="en-US" sz="2612">
                <a:solidFill>
                  <a:srgbClr val="000000"/>
                </a:solidFill>
                <a:latin typeface="Canva Sans"/>
                <a:ea typeface="Canva Sans"/>
                <a:cs typeface="Canva Sans"/>
                <a:sym typeface="Canva Sans"/>
              </a:rPr>
              <a:t>nce</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coun</a:t>
            </a:r>
            <a:r>
              <a:rPr lang="en-US" sz="2612">
                <a:solidFill>
                  <a:srgbClr val="000000"/>
                </a:solidFill>
                <a:latin typeface="Canva Sans"/>
                <a:ea typeface="Canva Sans"/>
                <a:cs typeface="Canva Sans"/>
                <a:sym typeface="Canva Sans"/>
              </a:rPr>
              <a:t>t</a:t>
            </a:r>
            <a:r>
              <a:rPr lang="en-US" sz="2612">
                <a:solidFill>
                  <a:srgbClr val="000000"/>
                </a:solidFill>
                <a:latin typeface="Canva Sans"/>
                <a:ea typeface="Canva Sans"/>
                <a:cs typeface="Canva Sans"/>
                <a:sym typeface="Canva Sans"/>
              </a:rPr>
              <a:t>s.</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W</a:t>
            </a:r>
            <a:r>
              <a:rPr lang="en-US" sz="2612">
                <a:solidFill>
                  <a:srgbClr val="000000"/>
                </a:solidFill>
                <a:latin typeface="Canva Sans"/>
                <a:ea typeface="Canva Sans"/>
                <a:cs typeface="Canva Sans"/>
                <a:sym typeface="Canva Sans"/>
              </a:rPr>
              <a:t>arehouse modelling: Represent the warehouse as an 8 × 6 grid with fixed product locations and a designated door.</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Distance</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c</a:t>
            </a:r>
            <a:r>
              <a:rPr lang="en-US" sz="2612">
                <a:solidFill>
                  <a:srgbClr val="000000"/>
                </a:solidFill>
                <a:latin typeface="Canva Sans"/>
                <a:ea typeface="Canva Sans"/>
                <a:cs typeface="Canva Sans"/>
                <a:sym typeface="Canva Sans"/>
              </a:rPr>
              <a:t>alculat</a:t>
            </a:r>
            <a:r>
              <a:rPr lang="en-US" sz="2612">
                <a:solidFill>
                  <a:srgbClr val="000000"/>
                </a:solidFill>
                <a:latin typeface="Canva Sans"/>
                <a:ea typeface="Canva Sans"/>
                <a:cs typeface="Canva Sans"/>
                <a:sym typeface="Canva Sans"/>
              </a:rPr>
              <a:t>ion: Us</a:t>
            </a:r>
            <a:r>
              <a:rPr lang="en-US" sz="2612">
                <a:solidFill>
                  <a:srgbClr val="000000"/>
                </a:solidFill>
                <a:latin typeface="Canva Sans"/>
                <a:ea typeface="Canva Sans"/>
                <a:cs typeface="Canva Sans"/>
                <a:sym typeface="Canva Sans"/>
              </a:rPr>
              <a:t>e </a:t>
            </a:r>
            <a:r>
              <a:rPr lang="en-US" sz="2612">
                <a:solidFill>
                  <a:srgbClr val="000000"/>
                </a:solidFill>
                <a:latin typeface="Canva Sans"/>
                <a:ea typeface="Canva Sans"/>
                <a:cs typeface="Canva Sans"/>
                <a:sym typeface="Canva Sans"/>
              </a:rPr>
              <a:t>Manhattan d</a:t>
            </a:r>
            <a:r>
              <a:rPr lang="en-US" sz="2612">
                <a:solidFill>
                  <a:srgbClr val="000000"/>
                </a:solidFill>
                <a:latin typeface="Canva Sans"/>
                <a:ea typeface="Canva Sans"/>
                <a:cs typeface="Canva Sans"/>
                <a:sym typeface="Canva Sans"/>
              </a:rPr>
              <a:t>i</a:t>
            </a:r>
            <a:r>
              <a:rPr lang="en-US" sz="2612">
                <a:solidFill>
                  <a:srgbClr val="000000"/>
                </a:solidFill>
                <a:latin typeface="Canva Sans"/>
                <a:ea typeface="Canva Sans"/>
                <a:cs typeface="Canva Sans"/>
                <a:sym typeface="Canva Sans"/>
              </a:rPr>
              <a:t>s</a:t>
            </a:r>
            <a:r>
              <a:rPr lang="en-US" sz="2612">
                <a:solidFill>
                  <a:srgbClr val="000000"/>
                </a:solidFill>
                <a:latin typeface="Canva Sans"/>
                <a:ea typeface="Canva Sans"/>
                <a:cs typeface="Canva Sans"/>
                <a:sym typeface="Canva Sans"/>
              </a:rPr>
              <a:t>t</a:t>
            </a:r>
            <a:r>
              <a:rPr lang="en-US" sz="2612">
                <a:solidFill>
                  <a:srgbClr val="000000"/>
                </a:solidFill>
                <a:latin typeface="Canva Sans"/>
                <a:ea typeface="Canva Sans"/>
                <a:cs typeface="Canva Sans"/>
                <a:sym typeface="Canva Sans"/>
              </a:rPr>
              <a:t>ance to estimate travel between locations.</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Route optimization: Apply bitmask DP to find the exact shortest picking tour for the selec</a:t>
            </a:r>
            <a:r>
              <a:rPr lang="en-US" sz="2612">
                <a:solidFill>
                  <a:srgbClr val="000000"/>
                </a:solidFill>
                <a:latin typeface="Canva Sans"/>
                <a:ea typeface="Canva Sans"/>
                <a:cs typeface="Canva Sans"/>
                <a:sym typeface="Canva Sans"/>
              </a:rPr>
              <a:t>t</a:t>
            </a:r>
            <a:r>
              <a:rPr lang="en-US" sz="2612">
                <a:solidFill>
                  <a:srgbClr val="000000"/>
                </a:solidFill>
                <a:latin typeface="Canva Sans"/>
                <a:ea typeface="Canva Sans"/>
                <a:cs typeface="Canva Sans"/>
                <a:sym typeface="Canva Sans"/>
              </a:rPr>
              <a:t>ed</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p</a:t>
            </a:r>
            <a:r>
              <a:rPr lang="en-US" sz="2612">
                <a:solidFill>
                  <a:srgbClr val="000000"/>
                </a:solidFill>
                <a:latin typeface="Canva Sans"/>
                <a:ea typeface="Canva Sans"/>
                <a:cs typeface="Canva Sans"/>
                <a:sym typeface="Canva Sans"/>
              </a:rPr>
              <a:t>roducts</a:t>
            </a:r>
            <a:r>
              <a:rPr lang="en-US" sz="2612">
                <a:solidFill>
                  <a:srgbClr val="000000"/>
                </a:solidFill>
                <a:latin typeface="Canva Sans"/>
                <a:ea typeface="Canva Sans"/>
                <a:cs typeface="Canva Sans"/>
                <a:sym typeface="Canva Sans"/>
              </a:rPr>
              <a:t>.</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Baseline </a:t>
            </a:r>
            <a:r>
              <a:rPr lang="en-US" sz="2612">
                <a:solidFill>
                  <a:srgbClr val="000000"/>
                </a:solidFill>
                <a:latin typeface="Canva Sans"/>
                <a:ea typeface="Canva Sans"/>
                <a:cs typeface="Canva Sans"/>
                <a:sym typeface="Canva Sans"/>
              </a:rPr>
              <a:t>comparison: Apply Nearest Neighbour to generate a faster heuristic route for comparison.</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A</a:t>
            </a:r>
            <a:r>
              <a:rPr lang="en-US" sz="2612">
                <a:solidFill>
                  <a:srgbClr val="000000"/>
                </a:solidFill>
                <a:latin typeface="Canva Sans"/>
                <a:ea typeface="Canva Sans"/>
                <a:cs typeface="Canva Sans"/>
                <a:sym typeface="Canva Sans"/>
              </a:rPr>
              <a:t>dd</a:t>
            </a:r>
            <a:r>
              <a:rPr lang="en-US" sz="2612">
                <a:solidFill>
                  <a:srgbClr val="000000"/>
                </a:solidFill>
                <a:latin typeface="Canva Sans"/>
                <a:ea typeface="Canva Sans"/>
                <a:cs typeface="Canva Sans"/>
                <a:sym typeface="Canva Sans"/>
              </a:rPr>
              <a:t>i</a:t>
            </a:r>
            <a:r>
              <a:rPr lang="en-US" sz="2612">
                <a:solidFill>
                  <a:srgbClr val="000000"/>
                </a:solidFill>
                <a:latin typeface="Canva Sans"/>
                <a:ea typeface="Canva Sans"/>
                <a:cs typeface="Canva Sans"/>
                <a:sym typeface="Canva Sans"/>
              </a:rPr>
              <a:t>tio</a:t>
            </a:r>
            <a:r>
              <a:rPr lang="en-US" sz="2612">
                <a:solidFill>
                  <a:srgbClr val="000000"/>
                </a:solidFill>
                <a:latin typeface="Canva Sans"/>
                <a:ea typeface="Canva Sans"/>
                <a:cs typeface="Canva Sans"/>
                <a:sym typeface="Canva Sans"/>
              </a:rPr>
              <a:t>n</a:t>
            </a:r>
            <a:r>
              <a:rPr lang="en-US" sz="2612">
                <a:solidFill>
                  <a:srgbClr val="000000"/>
                </a:solidFill>
                <a:latin typeface="Canva Sans"/>
                <a:ea typeface="Canva Sans"/>
                <a:cs typeface="Canva Sans"/>
                <a:sym typeface="Canva Sans"/>
              </a:rPr>
              <a:t>al</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a</a:t>
            </a:r>
            <a:r>
              <a:rPr lang="en-US" sz="2612">
                <a:solidFill>
                  <a:srgbClr val="000000"/>
                </a:solidFill>
                <a:latin typeface="Canva Sans"/>
                <a:ea typeface="Canva Sans"/>
                <a:cs typeface="Canva Sans"/>
                <a:sym typeface="Canva Sans"/>
              </a:rPr>
              <a:t>l</a:t>
            </a:r>
            <a:r>
              <a:rPr lang="en-US" sz="2612">
                <a:solidFill>
                  <a:srgbClr val="000000"/>
                </a:solidFill>
                <a:latin typeface="Canva Sans"/>
                <a:ea typeface="Canva Sans"/>
                <a:cs typeface="Canva Sans"/>
                <a:sym typeface="Canva Sans"/>
              </a:rPr>
              <a:t>gorithm demonstrations: Use Rabin–Karp for string searching, Edmonds–Karp</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for m</a:t>
            </a:r>
            <a:r>
              <a:rPr lang="en-US" sz="2612">
                <a:solidFill>
                  <a:srgbClr val="000000"/>
                </a:solidFill>
                <a:latin typeface="Canva Sans"/>
                <a:ea typeface="Canva Sans"/>
                <a:cs typeface="Canva Sans"/>
                <a:sym typeface="Canva Sans"/>
              </a:rPr>
              <a:t>a</a:t>
            </a:r>
            <a:r>
              <a:rPr lang="en-US" sz="2612">
                <a:solidFill>
                  <a:srgbClr val="000000"/>
                </a:solidFill>
                <a:latin typeface="Canva Sans"/>
                <a:ea typeface="Canva Sans"/>
                <a:cs typeface="Canva Sans"/>
                <a:sym typeface="Canva Sans"/>
              </a:rPr>
              <a:t>xim</a:t>
            </a:r>
            <a:r>
              <a:rPr lang="en-US" sz="2612">
                <a:solidFill>
                  <a:srgbClr val="000000"/>
                </a:solidFill>
                <a:latin typeface="Canva Sans"/>
                <a:ea typeface="Canva Sans"/>
                <a:cs typeface="Canva Sans"/>
                <a:sym typeface="Canva Sans"/>
              </a:rPr>
              <a:t>u</a:t>
            </a:r>
            <a:r>
              <a:rPr lang="en-US" sz="2612">
                <a:solidFill>
                  <a:srgbClr val="000000"/>
                </a:solidFill>
                <a:latin typeface="Canva Sans"/>
                <a:ea typeface="Canva Sans"/>
                <a:cs typeface="Canva Sans"/>
                <a:sym typeface="Canva Sans"/>
              </a:rPr>
              <a:t>m f</a:t>
            </a:r>
            <a:r>
              <a:rPr lang="en-US" sz="2612">
                <a:solidFill>
                  <a:srgbClr val="000000"/>
                </a:solidFill>
                <a:latin typeface="Canva Sans"/>
                <a:ea typeface="Canva Sans"/>
                <a:cs typeface="Canva Sans"/>
                <a:sym typeface="Canva Sans"/>
              </a:rPr>
              <a:t>l</a:t>
            </a:r>
            <a:r>
              <a:rPr lang="en-US" sz="2612">
                <a:solidFill>
                  <a:srgbClr val="000000"/>
                </a:solidFill>
                <a:latin typeface="Canva Sans"/>
                <a:ea typeface="Canva Sans"/>
                <a:cs typeface="Canva Sans"/>
                <a:sym typeface="Canva Sans"/>
              </a:rPr>
              <a:t>ow, </a:t>
            </a:r>
            <a:r>
              <a:rPr lang="en-US" sz="2612">
                <a:solidFill>
                  <a:srgbClr val="000000"/>
                </a:solidFill>
                <a:latin typeface="Canva Sans"/>
                <a:ea typeface="Canva Sans"/>
                <a:cs typeface="Canva Sans"/>
                <a:sym typeface="Canva Sans"/>
              </a:rPr>
              <a:t>a</a:t>
            </a:r>
            <a:r>
              <a:rPr lang="en-US" sz="2612">
                <a:solidFill>
                  <a:srgbClr val="000000"/>
                </a:solidFill>
                <a:latin typeface="Canva Sans"/>
                <a:ea typeface="Canva Sans"/>
                <a:cs typeface="Canva Sans"/>
                <a:sym typeface="Canva Sans"/>
              </a:rPr>
              <a:t>nd</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r</a:t>
            </a:r>
            <a:r>
              <a:rPr lang="en-US" sz="2612">
                <a:solidFill>
                  <a:srgbClr val="000000"/>
                </a:solidFill>
                <a:latin typeface="Canva Sans"/>
                <a:ea typeface="Canva Sans"/>
                <a:cs typeface="Canva Sans"/>
                <a:sym typeface="Canva Sans"/>
              </a:rPr>
              <a:t>an</a:t>
            </a:r>
            <a:r>
              <a:rPr lang="en-US" sz="2612">
                <a:solidFill>
                  <a:srgbClr val="000000"/>
                </a:solidFill>
                <a:latin typeface="Canva Sans"/>
                <a:ea typeface="Canva Sans"/>
                <a:cs typeface="Canva Sans"/>
                <a:sym typeface="Canva Sans"/>
              </a:rPr>
              <a:t>domiz</a:t>
            </a:r>
            <a:r>
              <a:rPr lang="en-US" sz="2612">
                <a:solidFill>
                  <a:srgbClr val="000000"/>
                </a:solidFill>
                <a:latin typeface="Canva Sans"/>
                <a:ea typeface="Canva Sans"/>
                <a:cs typeface="Canva Sans"/>
                <a:sym typeface="Canva Sans"/>
              </a:rPr>
              <a:t>e</a:t>
            </a:r>
            <a:r>
              <a:rPr lang="en-US" sz="2612">
                <a:solidFill>
                  <a:srgbClr val="000000"/>
                </a:solidFill>
                <a:latin typeface="Canva Sans"/>
                <a:ea typeface="Canva Sans"/>
                <a:cs typeface="Canva Sans"/>
                <a:sym typeface="Canva Sans"/>
              </a:rPr>
              <a:t>d techniques for sampling and frequency reduction.</a:t>
            </a:r>
          </a:p>
          <a:p>
            <a:pPr algn="l" marL="563965" indent="-281983" lvl="1">
              <a:lnSpc>
                <a:spcPts val="3657"/>
              </a:lnSpc>
              <a:buAutoNum type="arabicPeriod" startAt="1"/>
            </a:pPr>
            <a:r>
              <a:rPr lang="en-US" sz="2612">
                <a:solidFill>
                  <a:srgbClr val="000000"/>
                </a:solidFill>
                <a:latin typeface="Canva Sans"/>
                <a:ea typeface="Canva Sans"/>
                <a:cs typeface="Canva Sans"/>
                <a:sym typeface="Canva Sans"/>
              </a:rPr>
              <a:t>Result</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v</a:t>
            </a:r>
            <a:r>
              <a:rPr lang="en-US" sz="2612">
                <a:solidFill>
                  <a:srgbClr val="000000"/>
                </a:solidFill>
                <a:latin typeface="Canva Sans"/>
                <a:ea typeface="Canva Sans"/>
                <a:cs typeface="Canva Sans"/>
                <a:sym typeface="Canva Sans"/>
              </a:rPr>
              <a:t>i</a:t>
            </a:r>
            <a:r>
              <a:rPr lang="en-US" sz="2612">
                <a:solidFill>
                  <a:srgbClr val="000000"/>
                </a:solidFill>
                <a:latin typeface="Canva Sans"/>
                <a:ea typeface="Canva Sans"/>
                <a:cs typeface="Canva Sans"/>
                <a:sym typeface="Canva Sans"/>
              </a:rPr>
              <a:t>sual</a:t>
            </a:r>
            <a:r>
              <a:rPr lang="en-US" sz="2612">
                <a:solidFill>
                  <a:srgbClr val="000000"/>
                </a:solidFill>
                <a:latin typeface="Canva Sans"/>
                <a:ea typeface="Canva Sans"/>
                <a:cs typeface="Canva Sans"/>
                <a:sym typeface="Canva Sans"/>
              </a:rPr>
              <a:t>iz</a:t>
            </a:r>
            <a:r>
              <a:rPr lang="en-US" sz="2612">
                <a:solidFill>
                  <a:srgbClr val="000000"/>
                </a:solidFill>
                <a:latin typeface="Canva Sans"/>
                <a:ea typeface="Canva Sans"/>
                <a:cs typeface="Canva Sans"/>
                <a:sym typeface="Canva Sans"/>
              </a:rPr>
              <a:t>ation:</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Displ</a:t>
            </a:r>
            <a:r>
              <a:rPr lang="en-US" sz="2612">
                <a:solidFill>
                  <a:srgbClr val="000000"/>
                </a:solidFill>
                <a:latin typeface="Canva Sans"/>
                <a:ea typeface="Canva Sans"/>
                <a:cs typeface="Canva Sans"/>
                <a:sym typeface="Canva Sans"/>
              </a:rPr>
              <a:t>ay</a:t>
            </a:r>
            <a:r>
              <a:rPr lang="en-US" sz="2612">
                <a:solidFill>
                  <a:srgbClr val="000000"/>
                </a:solidFill>
                <a:latin typeface="Canva Sans"/>
                <a:ea typeface="Canva Sans"/>
                <a:cs typeface="Canva Sans"/>
                <a:sym typeface="Canva Sans"/>
              </a:rPr>
              <a:t> </a:t>
            </a:r>
            <a:r>
              <a:rPr lang="en-US" sz="2612">
                <a:solidFill>
                  <a:srgbClr val="000000"/>
                </a:solidFill>
                <a:latin typeface="Canva Sans"/>
                <a:ea typeface="Canva Sans"/>
                <a:cs typeface="Canva Sans"/>
                <a:sym typeface="Canva Sans"/>
              </a:rPr>
              <a:t>t</a:t>
            </a:r>
            <a:r>
              <a:rPr lang="en-US" sz="2612">
                <a:solidFill>
                  <a:srgbClr val="000000"/>
                </a:solidFill>
                <a:latin typeface="Canva Sans"/>
                <a:ea typeface="Canva Sans"/>
                <a:cs typeface="Canva Sans"/>
                <a:sym typeface="Canva Sans"/>
              </a:rPr>
              <a:t>he selected shelves, route sequence, distance comparison and estimated savings.</a:t>
            </a:r>
          </a:p>
          <a:p>
            <a:pPr algn="l" marL="563965" indent="-281983" lvl="1">
              <a:lnSpc>
                <a:spcPts val="3657"/>
              </a:lnSpc>
              <a:spcBef>
                <a:spcPct val="0"/>
              </a:spcBef>
              <a:buAutoNum type="arabicPeriod" startAt="1"/>
            </a:pPr>
          </a:p>
        </p:txBody>
      </p:sp>
      <p:sp>
        <p:nvSpPr>
          <p:cNvPr name="TextBox 6" id="6"/>
          <p:cNvSpPr txBox="true"/>
          <p:nvPr/>
        </p:nvSpPr>
        <p:spPr>
          <a:xfrm rot="0">
            <a:off x="4639648" y="318489"/>
            <a:ext cx="6815961" cy="1277547"/>
          </a:xfrm>
          <a:prstGeom prst="rect">
            <a:avLst/>
          </a:prstGeom>
        </p:spPr>
        <p:txBody>
          <a:bodyPr anchor="t" rtlCol="false" tIns="0" lIns="0" bIns="0" rIns="0">
            <a:spAutoFit/>
          </a:bodyPr>
          <a:lstStyle/>
          <a:p>
            <a:pPr algn="l">
              <a:lnSpc>
                <a:spcPts val="10434"/>
              </a:lnSpc>
            </a:pPr>
            <a:r>
              <a:rPr lang="en-US" sz="7452" b="true">
                <a:solidFill>
                  <a:srgbClr val="000000"/>
                </a:solidFill>
                <a:latin typeface="Be Vietnam Ultra-Bold"/>
                <a:ea typeface="Be Vietnam Ultra-Bold"/>
                <a:cs typeface="Be Vietnam Ultra-Bold"/>
                <a:sym typeface="Be Vietnam Ultra-Bold"/>
              </a:rPr>
              <a:t>Methodology</a:t>
            </a:r>
          </a:p>
        </p:txBody>
      </p:sp>
      <p:sp>
        <p:nvSpPr>
          <p:cNvPr name="Freeform 7" id="7"/>
          <p:cNvSpPr/>
          <p:nvPr/>
        </p:nvSpPr>
        <p:spPr>
          <a:xfrm flipH="false" flipV="false" rot="0">
            <a:off x="16349641" y="575299"/>
            <a:ext cx="2710550" cy="906802"/>
          </a:xfrm>
          <a:custGeom>
            <a:avLst/>
            <a:gdLst/>
            <a:ahLst/>
            <a:cxnLst/>
            <a:rect r="r" b="b" t="t" l="l"/>
            <a:pathLst>
              <a:path h="906802" w="2710550">
                <a:moveTo>
                  <a:pt x="0" y="0"/>
                </a:moveTo>
                <a:lnTo>
                  <a:pt x="2710550" y="0"/>
                </a:lnTo>
                <a:lnTo>
                  <a:pt x="2710550" y="906802"/>
                </a:lnTo>
                <a:lnTo>
                  <a:pt x="0" y="906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8" id="8"/>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FFFFFF"/>
                </a:solidFill>
                <a:latin typeface="Be Vietnam Ultra-Bold"/>
                <a:ea typeface="Be Vietnam Ultra-Bold"/>
                <a:cs typeface="Be Vietnam Ultra-Bold"/>
                <a:sym typeface="Be Vietnam Ultra-Bold"/>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grpSp>
        <p:nvGrpSpPr>
          <p:cNvPr name="Group 2" id="2"/>
          <p:cNvGrpSpPr/>
          <p:nvPr/>
        </p:nvGrpSpPr>
        <p:grpSpPr>
          <a:xfrm rot="0">
            <a:off x="16349641" y="9258300"/>
            <a:ext cx="909659" cy="1487543"/>
            <a:chOff x="0" y="0"/>
            <a:chExt cx="239581" cy="391781"/>
          </a:xfrm>
        </p:grpSpPr>
        <p:sp>
          <p:nvSpPr>
            <p:cNvPr name="Freeform 3" id="3"/>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DA7D51"/>
            </a:solidFill>
          </p:spPr>
        </p:sp>
        <p:sp>
          <p:nvSpPr>
            <p:cNvPr name="TextBox 4" id="4"/>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819159" y="21966"/>
            <a:ext cx="14798590" cy="10265034"/>
          </a:xfrm>
          <a:custGeom>
            <a:avLst/>
            <a:gdLst/>
            <a:ahLst/>
            <a:cxnLst/>
            <a:rect r="r" b="b" t="t" l="l"/>
            <a:pathLst>
              <a:path h="10265034" w="14798590">
                <a:moveTo>
                  <a:pt x="0" y="0"/>
                </a:moveTo>
                <a:lnTo>
                  <a:pt x="14798590" y="0"/>
                </a:lnTo>
                <a:lnTo>
                  <a:pt x="14798590" y="10265034"/>
                </a:lnTo>
                <a:lnTo>
                  <a:pt x="0" y="10265034"/>
                </a:lnTo>
                <a:lnTo>
                  <a:pt x="0" y="0"/>
                </a:lnTo>
                <a:close/>
              </a:path>
            </a:pathLst>
          </a:custGeom>
          <a:blipFill>
            <a:blip r:embed="rId2"/>
            <a:stretch>
              <a:fillRect l="0" t="0" r="-1116" b="0"/>
            </a:stretch>
          </a:blipFill>
        </p:spPr>
      </p:sp>
      <p:sp>
        <p:nvSpPr>
          <p:cNvPr name="TextBox 6" id="6"/>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FFFFFF"/>
                </a:solidFill>
                <a:latin typeface="Be Vietnam Ultra-Bold"/>
                <a:ea typeface="Be Vietnam Ultra-Bold"/>
                <a:cs typeface="Be Vietnam Ultra-Bold"/>
                <a:sym typeface="Be Vietnam Ultra-Bold"/>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grpSp>
        <p:nvGrpSpPr>
          <p:cNvPr name="Group 2" id="2"/>
          <p:cNvGrpSpPr/>
          <p:nvPr/>
        </p:nvGrpSpPr>
        <p:grpSpPr>
          <a:xfrm rot="0">
            <a:off x="16349641" y="9258300"/>
            <a:ext cx="909659" cy="1487543"/>
            <a:chOff x="0" y="0"/>
            <a:chExt cx="239581" cy="391781"/>
          </a:xfrm>
        </p:grpSpPr>
        <p:sp>
          <p:nvSpPr>
            <p:cNvPr name="Freeform 3" id="3"/>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DA7D51"/>
            </a:solidFill>
          </p:spPr>
        </p:sp>
        <p:sp>
          <p:nvSpPr>
            <p:cNvPr name="TextBox 4" id="4"/>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6349641" y="575299"/>
            <a:ext cx="2710550" cy="906802"/>
          </a:xfrm>
          <a:custGeom>
            <a:avLst/>
            <a:gdLst/>
            <a:ahLst/>
            <a:cxnLst/>
            <a:rect r="r" b="b" t="t" l="l"/>
            <a:pathLst>
              <a:path h="906802" w="2710550">
                <a:moveTo>
                  <a:pt x="0" y="0"/>
                </a:moveTo>
                <a:lnTo>
                  <a:pt x="2710550" y="0"/>
                </a:lnTo>
                <a:lnTo>
                  <a:pt x="2710550" y="906802"/>
                </a:lnTo>
                <a:lnTo>
                  <a:pt x="0" y="906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Object 6" id="6"/>
          <p:cNvGraphicFramePr/>
          <p:nvPr/>
        </p:nvGraphicFramePr>
        <p:xfrm>
          <a:off x="834471" y="2000250"/>
          <a:ext cx="3771900" cy="6286500"/>
        </p:xfrm>
        <a:graphic>
          <a:graphicData uri="http://schemas.openxmlformats.org/presentationml/2006/ole">
            <p:oleObj imgW="5029200" imgH="754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FFFFFF"/>
                </a:solidFill>
                <a:latin typeface="Be Vietnam Ultra-Bold"/>
                <a:ea typeface="Be Vietnam Ultra-Bold"/>
                <a:cs typeface="Be Vietnam Ultra-Bold"/>
                <a:sym typeface="Be Vietnam Ultra-Bold"/>
              </a:rPr>
              <a:t>08</a:t>
            </a:r>
          </a:p>
        </p:txBody>
      </p:sp>
      <p:sp>
        <p:nvSpPr>
          <p:cNvPr name="TextBox 8" id="8"/>
          <p:cNvSpPr txBox="true"/>
          <p:nvPr/>
        </p:nvSpPr>
        <p:spPr>
          <a:xfrm rot="0">
            <a:off x="608897" y="480049"/>
            <a:ext cx="5340191"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Algorithms Used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2E8"/>
        </a:solidFill>
      </p:bgPr>
    </p:bg>
    <p:spTree>
      <p:nvGrpSpPr>
        <p:cNvPr id="1" name=""/>
        <p:cNvGrpSpPr/>
        <p:nvPr/>
      </p:nvGrpSpPr>
      <p:grpSpPr>
        <a:xfrm>
          <a:off x="0" y="0"/>
          <a:ext cx="0" cy="0"/>
          <a:chOff x="0" y="0"/>
          <a:chExt cx="0" cy="0"/>
        </a:xfrm>
      </p:grpSpPr>
      <p:grpSp>
        <p:nvGrpSpPr>
          <p:cNvPr name="Group 2" id="2"/>
          <p:cNvGrpSpPr/>
          <p:nvPr/>
        </p:nvGrpSpPr>
        <p:grpSpPr>
          <a:xfrm rot="0">
            <a:off x="16349641" y="9258300"/>
            <a:ext cx="909659" cy="1487543"/>
            <a:chOff x="0" y="0"/>
            <a:chExt cx="239581" cy="391781"/>
          </a:xfrm>
        </p:grpSpPr>
        <p:sp>
          <p:nvSpPr>
            <p:cNvPr name="Freeform 3" id="3"/>
            <p:cNvSpPr/>
            <p:nvPr/>
          </p:nvSpPr>
          <p:spPr>
            <a:xfrm flipH="false" flipV="false" rot="0">
              <a:off x="0" y="0"/>
              <a:ext cx="239581" cy="391781"/>
            </a:xfrm>
            <a:custGeom>
              <a:avLst/>
              <a:gdLst/>
              <a:ahLst/>
              <a:cxnLst/>
              <a:rect r="r" b="b" t="t" l="l"/>
              <a:pathLst>
                <a:path h="391781" w="239581">
                  <a:moveTo>
                    <a:pt x="119790" y="0"/>
                  </a:moveTo>
                  <a:lnTo>
                    <a:pt x="119790" y="0"/>
                  </a:lnTo>
                  <a:cubicBezTo>
                    <a:pt x="151561" y="0"/>
                    <a:pt x="182030" y="12621"/>
                    <a:pt x="204495" y="35086"/>
                  </a:cubicBezTo>
                  <a:cubicBezTo>
                    <a:pt x="226960" y="57551"/>
                    <a:pt x="239581" y="88020"/>
                    <a:pt x="239581" y="119790"/>
                  </a:cubicBezTo>
                  <a:lnTo>
                    <a:pt x="239581" y="271990"/>
                  </a:lnTo>
                  <a:cubicBezTo>
                    <a:pt x="239581" y="303761"/>
                    <a:pt x="226960" y="334230"/>
                    <a:pt x="204495" y="356695"/>
                  </a:cubicBezTo>
                  <a:cubicBezTo>
                    <a:pt x="182030" y="379160"/>
                    <a:pt x="151561" y="391781"/>
                    <a:pt x="119790" y="391781"/>
                  </a:cubicBezTo>
                  <a:lnTo>
                    <a:pt x="119790" y="391781"/>
                  </a:lnTo>
                  <a:cubicBezTo>
                    <a:pt x="88020" y="391781"/>
                    <a:pt x="57551" y="379160"/>
                    <a:pt x="35086" y="356695"/>
                  </a:cubicBezTo>
                  <a:cubicBezTo>
                    <a:pt x="12621" y="334230"/>
                    <a:pt x="0" y="303761"/>
                    <a:pt x="0" y="271990"/>
                  </a:cubicBezTo>
                  <a:lnTo>
                    <a:pt x="0" y="119790"/>
                  </a:lnTo>
                  <a:cubicBezTo>
                    <a:pt x="0" y="88020"/>
                    <a:pt x="12621" y="57551"/>
                    <a:pt x="35086" y="35086"/>
                  </a:cubicBezTo>
                  <a:cubicBezTo>
                    <a:pt x="57551" y="12621"/>
                    <a:pt x="88020" y="0"/>
                    <a:pt x="119790" y="0"/>
                  </a:cubicBezTo>
                  <a:close/>
                </a:path>
              </a:pathLst>
            </a:custGeom>
            <a:solidFill>
              <a:srgbClr val="DA7D51"/>
            </a:solidFill>
          </p:spPr>
        </p:sp>
        <p:sp>
          <p:nvSpPr>
            <p:cNvPr name="TextBox 4" id="4"/>
            <p:cNvSpPr txBox="true"/>
            <p:nvPr/>
          </p:nvSpPr>
          <p:spPr>
            <a:xfrm>
              <a:off x="0" y="-38100"/>
              <a:ext cx="239581" cy="429881"/>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4639648" y="318489"/>
            <a:ext cx="6815961" cy="1277547"/>
          </a:xfrm>
          <a:prstGeom prst="rect">
            <a:avLst/>
          </a:prstGeom>
        </p:spPr>
        <p:txBody>
          <a:bodyPr anchor="t" rtlCol="false" tIns="0" lIns="0" bIns="0" rIns="0">
            <a:spAutoFit/>
          </a:bodyPr>
          <a:lstStyle/>
          <a:p>
            <a:pPr algn="l">
              <a:lnSpc>
                <a:spcPts val="10434"/>
              </a:lnSpc>
            </a:pPr>
            <a:r>
              <a:rPr lang="en-US" sz="7452" b="true">
                <a:solidFill>
                  <a:srgbClr val="000000"/>
                </a:solidFill>
                <a:latin typeface="Be Vietnam Ultra-Bold"/>
                <a:ea typeface="Be Vietnam Ultra-Bold"/>
                <a:cs typeface="Be Vietnam Ultra-Bold"/>
                <a:sym typeface="Be Vietnam Ultra-Bold"/>
              </a:rPr>
              <a:t>Conclusion</a:t>
            </a:r>
          </a:p>
        </p:txBody>
      </p:sp>
      <p:sp>
        <p:nvSpPr>
          <p:cNvPr name="Freeform 6" id="6"/>
          <p:cNvSpPr/>
          <p:nvPr/>
        </p:nvSpPr>
        <p:spPr>
          <a:xfrm flipH="false" flipV="false" rot="0">
            <a:off x="16349641" y="575299"/>
            <a:ext cx="2710550" cy="906802"/>
          </a:xfrm>
          <a:custGeom>
            <a:avLst/>
            <a:gdLst/>
            <a:ahLst/>
            <a:cxnLst/>
            <a:rect r="r" b="b" t="t" l="l"/>
            <a:pathLst>
              <a:path h="906802" w="2710550">
                <a:moveTo>
                  <a:pt x="0" y="0"/>
                </a:moveTo>
                <a:lnTo>
                  <a:pt x="2710550" y="0"/>
                </a:lnTo>
                <a:lnTo>
                  <a:pt x="2710550" y="906802"/>
                </a:lnTo>
                <a:lnTo>
                  <a:pt x="0" y="906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7" id="7"/>
          <p:cNvSpPr txBox="true"/>
          <p:nvPr/>
        </p:nvSpPr>
        <p:spPr>
          <a:xfrm rot="0">
            <a:off x="16287702" y="9393452"/>
            <a:ext cx="1033538" cy="608620"/>
          </a:xfrm>
          <a:prstGeom prst="rect">
            <a:avLst/>
          </a:prstGeom>
        </p:spPr>
        <p:txBody>
          <a:bodyPr anchor="t" rtlCol="false" tIns="0" lIns="0" bIns="0" rIns="0">
            <a:spAutoFit/>
          </a:bodyPr>
          <a:lstStyle/>
          <a:p>
            <a:pPr algn="ctr">
              <a:lnSpc>
                <a:spcPts val="4910"/>
              </a:lnSpc>
            </a:pPr>
            <a:r>
              <a:rPr lang="en-US" sz="3507" b="true">
                <a:solidFill>
                  <a:srgbClr val="FFFFFF"/>
                </a:solidFill>
                <a:latin typeface="Be Vietnam Ultra-Bold"/>
                <a:ea typeface="Be Vietnam Ultra-Bold"/>
                <a:cs typeface="Be Vietnam Ultra-Bold"/>
                <a:sym typeface="Be Vietnam Ultra-Bold"/>
              </a:rPr>
              <a:t>09</a:t>
            </a:r>
          </a:p>
        </p:txBody>
      </p:sp>
      <p:sp>
        <p:nvSpPr>
          <p:cNvPr name="TextBox 8" id="8"/>
          <p:cNvSpPr txBox="true"/>
          <p:nvPr/>
        </p:nvSpPr>
        <p:spPr>
          <a:xfrm rot="0">
            <a:off x="1028700" y="2336197"/>
            <a:ext cx="15259002" cy="7133455"/>
          </a:xfrm>
          <a:prstGeom prst="rect">
            <a:avLst/>
          </a:prstGeom>
        </p:spPr>
        <p:txBody>
          <a:bodyPr anchor="t" rtlCol="false" tIns="0" lIns="0" bIns="0" rIns="0">
            <a:spAutoFit/>
          </a:bodyPr>
          <a:lstStyle/>
          <a:p>
            <a:pPr algn="l">
              <a:lnSpc>
                <a:spcPts val="5162"/>
              </a:lnSpc>
              <a:spcBef>
                <a:spcPct val="0"/>
              </a:spcBef>
            </a:pPr>
            <a:r>
              <a:rPr lang="en-US" b="true" sz="3687">
                <a:solidFill>
                  <a:srgbClr val="000000"/>
                </a:solidFill>
                <a:latin typeface="Be Vietnam Ultra-Bold"/>
                <a:ea typeface="Be Vietnam Ultra-Bold"/>
                <a:cs typeface="Be Vietnam Ultra-Bold"/>
                <a:sym typeface="Be Vietnam Ultra-Bold"/>
              </a:rPr>
              <a:t>Efficient Route Planning:</a:t>
            </a:r>
            <a:r>
              <a:rPr lang="en-US" sz="3687">
                <a:solidFill>
                  <a:srgbClr val="000000"/>
                </a:solidFill>
                <a:latin typeface="Be Vietnam"/>
                <a:ea typeface="Be Vietnam"/>
                <a:cs typeface="Be Vietnam"/>
                <a:sym typeface="Be Vietnam"/>
              </a:rPr>
              <a:t> Uses Bitmask Dynamic Programming to find the shortest picking route for selected products.</a:t>
            </a:r>
          </a:p>
          <a:p>
            <a:pPr algn="l">
              <a:lnSpc>
                <a:spcPts val="5162"/>
              </a:lnSpc>
              <a:spcBef>
                <a:spcPct val="0"/>
              </a:spcBef>
            </a:pPr>
            <a:r>
              <a:rPr lang="en-US" b="true" sz="3687">
                <a:solidFill>
                  <a:srgbClr val="000000"/>
                </a:solidFill>
                <a:latin typeface="Be Vietnam Ultra-Bold"/>
                <a:ea typeface="Be Vietnam Ultra-Bold"/>
                <a:cs typeface="Be Vietnam Ultra-Bold"/>
                <a:sym typeface="Be Vietnam Ultra-Bold"/>
              </a:rPr>
              <a:t>Algorithm Comparison:</a:t>
            </a:r>
            <a:r>
              <a:rPr lang="en-US" sz="3687">
                <a:solidFill>
                  <a:srgbClr val="000000"/>
                </a:solidFill>
                <a:latin typeface="Be Vietnam"/>
                <a:ea typeface="Be Vietnam"/>
                <a:cs typeface="Be Vietnam"/>
                <a:sym typeface="Be Vietnam"/>
              </a:rPr>
              <a:t> Compares the exact solution with the faster Nearest </a:t>
            </a:r>
            <a:r>
              <a:rPr lang="en-US" b="true" sz="3687">
                <a:solidFill>
                  <a:srgbClr val="000000"/>
                </a:solidFill>
                <a:latin typeface="Be Vietnam Ultra-Bold"/>
                <a:ea typeface="Be Vietnam Ultra-Bold"/>
                <a:cs typeface="Be Vietnam Ultra-Bold"/>
                <a:sym typeface="Be Vietnam Ultra-Bold"/>
              </a:rPr>
              <a:t>Neighbour heuristic.</a:t>
            </a:r>
          </a:p>
          <a:p>
            <a:pPr algn="l">
              <a:lnSpc>
                <a:spcPts val="5162"/>
              </a:lnSpc>
              <a:spcBef>
                <a:spcPct val="0"/>
              </a:spcBef>
            </a:pPr>
            <a:r>
              <a:rPr lang="en-US" b="true" sz="3687">
                <a:solidFill>
                  <a:srgbClr val="000000"/>
                </a:solidFill>
                <a:latin typeface="Be Vietnam Ultra-Bold"/>
                <a:ea typeface="Be Vietnam Ultra-Bold"/>
                <a:cs typeface="Be Vietnam Ultra-Bold"/>
                <a:sym typeface="Be Vietnam Ultra-Bold"/>
              </a:rPr>
              <a:t>Advanced Algorithm Integration:</a:t>
            </a:r>
            <a:r>
              <a:rPr lang="en-US" sz="3687">
                <a:solidFill>
                  <a:srgbClr val="000000"/>
                </a:solidFill>
                <a:latin typeface="Be Vietnam"/>
                <a:ea typeface="Be Vietnam"/>
                <a:cs typeface="Be Vietnam"/>
                <a:sym typeface="Be Vietnam"/>
              </a:rPr>
              <a:t> Demonstrates string matching, network flow, randomized hashing, reservoir sampling and frequency analysis.</a:t>
            </a:r>
          </a:p>
          <a:p>
            <a:pPr algn="l">
              <a:lnSpc>
                <a:spcPts val="5162"/>
              </a:lnSpc>
              <a:spcBef>
                <a:spcPct val="0"/>
              </a:spcBef>
            </a:pPr>
            <a:r>
              <a:rPr lang="en-US" b="true" sz="3687">
                <a:solidFill>
                  <a:srgbClr val="000000"/>
                </a:solidFill>
                <a:latin typeface="Be Vietnam Ultra-Bold"/>
                <a:ea typeface="Be Vietnam Ultra-Bold"/>
                <a:cs typeface="Be Vietnam Ultra-Bold"/>
                <a:sym typeface="Be Vietnam Ultra-Bold"/>
              </a:rPr>
              <a:t>Visual Results:</a:t>
            </a:r>
            <a:r>
              <a:rPr lang="en-US" sz="3687">
                <a:solidFill>
                  <a:srgbClr val="000000"/>
                </a:solidFill>
                <a:latin typeface="Be Vietnam"/>
                <a:ea typeface="Be Vietnam"/>
                <a:cs typeface="Be Vietnam"/>
                <a:sym typeface="Be Vietnam"/>
              </a:rPr>
              <a:t> Displays warehouse locations, picking sequences, route distances and estimated savings.</a:t>
            </a:r>
          </a:p>
          <a:p>
            <a:pPr algn="l">
              <a:lnSpc>
                <a:spcPts val="5162"/>
              </a:lnSpc>
              <a:spcBef>
                <a:spcPct val="0"/>
              </a:spcBef>
            </a:pPr>
            <a:r>
              <a:rPr lang="en-US" sz="3687">
                <a:solidFill>
                  <a:srgbClr val="000000"/>
                </a:solidFill>
                <a:latin typeface="Be Vietnam"/>
                <a:ea typeface="Be Vietnam"/>
                <a:cs typeface="Be Vietnam"/>
                <a:sym typeface="Be Vietnam"/>
              </a:rPr>
              <a:t>Future Scope: Can be extended with dynamic shelf allocation, obstacle-aware routing and real-time warehouse data.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A7D51"/>
        </a:solidFill>
      </p:bgPr>
    </p:bg>
    <p:spTree>
      <p:nvGrpSpPr>
        <p:cNvPr id="1" name=""/>
        <p:cNvGrpSpPr/>
        <p:nvPr/>
      </p:nvGrpSpPr>
      <p:grpSpPr>
        <a:xfrm>
          <a:off x="0" y="0"/>
          <a:ext cx="0" cy="0"/>
          <a:chOff x="0" y="0"/>
          <a:chExt cx="0" cy="0"/>
        </a:xfrm>
      </p:grpSpPr>
      <p:sp>
        <p:nvSpPr>
          <p:cNvPr name="Freeform 2" id="2"/>
          <p:cNvSpPr/>
          <p:nvPr/>
        </p:nvSpPr>
        <p:spPr>
          <a:xfrm flipH="false" flipV="false" rot="0">
            <a:off x="3572525" y="3582329"/>
            <a:ext cx="11142950" cy="6564210"/>
          </a:xfrm>
          <a:custGeom>
            <a:avLst/>
            <a:gdLst/>
            <a:ahLst/>
            <a:cxnLst/>
            <a:rect r="r" b="b" t="t" l="l"/>
            <a:pathLst>
              <a:path h="6564210" w="11142950">
                <a:moveTo>
                  <a:pt x="0" y="0"/>
                </a:moveTo>
                <a:lnTo>
                  <a:pt x="11142950" y="0"/>
                </a:lnTo>
                <a:lnTo>
                  <a:pt x="11142950" y="6564211"/>
                </a:lnTo>
                <a:lnTo>
                  <a:pt x="0" y="6564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47486" y="1311574"/>
            <a:ext cx="10193028" cy="1930830"/>
          </a:xfrm>
          <a:prstGeom prst="rect">
            <a:avLst/>
          </a:prstGeom>
        </p:spPr>
        <p:txBody>
          <a:bodyPr anchor="t" rtlCol="false" tIns="0" lIns="0" bIns="0" rIns="0">
            <a:spAutoFit/>
          </a:bodyPr>
          <a:lstStyle/>
          <a:p>
            <a:pPr algn="ctr">
              <a:lnSpc>
                <a:spcPts val="15404"/>
              </a:lnSpc>
            </a:pPr>
            <a:r>
              <a:rPr lang="en-US" b="true" sz="11941">
                <a:solidFill>
                  <a:srgbClr val="FFFFFF"/>
                </a:solidFill>
                <a:latin typeface="Be Vietnam Ultra-Bold"/>
                <a:ea typeface="Be Vietnam Ultra-Bold"/>
                <a:cs typeface="Be Vietnam Ultra-Bold"/>
                <a:sym typeface="Be Vietnam Ultra-Bold"/>
              </a:rPr>
              <a:t>Thank You</a:t>
            </a:r>
          </a:p>
        </p:txBody>
      </p:sp>
      <p:sp>
        <p:nvSpPr>
          <p:cNvPr name="Freeform 4" id="4"/>
          <p:cNvSpPr/>
          <p:nvPr/>
        </p:nvSpPr>
        <p:spPr>
          <a:xfrm flipH="false" flipV="false" rot="0">
            <a:off x="14407225" y="2926438"/>
            <a:ext cx="2852075" cy="1254913"/>
          </a:xfrm>
          <a:custGeom>
            <a:avLst/>
            <a:gdLst/>
            <a:ahLst/>
            <a:cxnLst/>
            <a:rect r="r" b="b" t="t" l="l"/>
            <a:pathLst>
              <a:path h="1254913" w="2852075">
                <a:moveTo>
                  <a:pt x="0" y="0"/>
                </a:moveTo>
                <a:lnTo>
                  <a:pt x="2852075" y="0"/>
                </a:lnTo>
                <a:lnTo>
                  <a:pt x="2852075" y="1254913"/>
                </a:lnTo>
                <a:lnTo>
                  <a:pt x="0" y="1254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89116" y="5383836"/>
            <a:ext cx="2852075" cy="1254913"/>
          </a:xfrm>
          <a:custGeom>
            <a:avLst/>
            <a:gdLst/>
            <a:ahLst/>
            <a:cxnLst/>
            <a:rect r="r" b="b" t="t" l="l"/>
            <a:pathLst>
              <a:path h="1254913" w="2852075">
                <a:moveTo>
                  <a:pt x="0" y="0"/>
                </a:moveTo>
                <a:lnTo>
                  <a:pt x="2852076" y="0"/>
                </a:lnTo>
                <a:lnTo>
                  <a:pt x="2852076" y="1254913"/>
                </a:lnTo>
                <a:lnTo>
                  <a:pt x="0" y="1254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215154" y="2575547"/>
            <a:ext cx="763618" cy="1276565"/>
          </a:xfrm>
          <a:custGeom>
            <a:avLst/>
            <a:gdLst/>
            <a:ahLst/>
            <a:cxnLst/>
            <a:rect r="r" b="b" t="t" l="l"/>
            <a:pathLst>
              <a:path h="1276565" w="763618">
                <a:moveTo>
                  <a:pt x="0" y="0"/>
                </a:moveTo>
                <a:lnTo>
                  <a:pt x="763618" y="0"/>
                </a:lnTo>
                <a:lnTo>
                  <a:pt x="763618" y="1276565"/>
                </a:lnTo>
                <a:lnTo>
                  <a:pt x="0" y="12765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15586023" y="6834559"/>
            <a:ext cx="763618" cy="1276565"/>
          </a:xfrm>
          <a:custGeom>
            <a:avLst/>
            <a:gdLst/>
            <a:ahLst/>
            <a:cxnLst/>
            <a:rect r="r" b="b" t="t" l="l"/>
            <a:pathLst>
              <a:path h="1276565" w="763618">
                <a:moveTo>
                  <a:pt x="0" y="0"/>
                </a:moveTo>
                <a:lnTo>
                  <a:pt x="763618" y="0"/>
                </a:lnTo>
                <a:lnTo>
                  <a:pt x="763618" y="1276564"/>
                </a:lnTo>
                <a:lnTo>
                  <a:pt x="0" y="12765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DAHSz2IYJRQ</dc:identifier>
  <dcterms:modified xsi:type="dcterms:W3CDTF">2011-08-01T06:04:30Z</dcterms:modified>
  <cp:revision>1</cp:revision>
  <dc:title>Warehouse slotting optimizer</dc:title>
</cp:coreProperties>
</file>